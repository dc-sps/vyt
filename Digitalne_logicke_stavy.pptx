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66" r:id="rId3"/>
    <p:sldId id="267" r:id="rId4"/>
    <p:sldId id="257" r:id="rId5"/>
    <p:sldId id="271" r:id="rId6"/>
    <p:sldId id="270" r:id="rId7"/>
    <p:sldId id="269" r:id="rId8"/>
    <p:sldId id="268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58" r:id="rId17"/>
    <p:sldId id="259" r:id="rId18"/>
    <p:sldId id="260" r:id="rId19"/>
    <p:sldId id="261" r:id="rId20"/>
    <p:sldId id="279" r:id="rId21"/>
    <p:sldId id="280" r:id="rId22"/>
    <p:sldId id="281" r:id="rId23"/>
    <p:sldId id="285" r:id="rId24"/>
    <p:sldId id="262" r:id="rId25"/>
    <p:sldId id="282" r:id="rId26"/>
    <p:sldId id="283" r:id="rId27"/>
    <p:sldId id="263" r:id="rId28"/>
    <p:sldId id="284" r:id="rId29"/>
    <p:sldId id="264" r:id="rId30"/>
    <p:sldId id="286" r:id="rId31"/>
    <p:sldId id="265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325" autoAdjust="0"/>
  </p:normalViewPr>
  <p:slideViewPr>
    <p:cSldViewPr snapToGrid="0" snapToObjects="1">
      <p:cViewPr varScale="1">
        <p:scale>
          <a:sx n="95" d="100"/>
          <a:sy n="95" d="100"/>
        </p:scale>
        <p:origin x="11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1" d="100"/>
          <a:sy n="81" d="100"/>
        </p:scale>
        <p:origin x="397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2401D0-75F1-45BE-A363-45E8DDA9CD68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4D7690F-8CD7-4177-9897-9FBDCCFCAC2C}">
      <dgm:prSet/>
      <dgm:spPr/>
      <dgm:t>
        <a:bodyPr/>
        <a:lstStyle/>
        <a:p>
          <a:r>
            <a:rPr lang="sk-SK"/>
            <a:t>Programovací jazyk, v ktorom prebieha  programovanie Arduina, sa volá Wiring. Lepšie povedané vychádza z jazyka C++, ale rozdiely sú minimálne.</a:t>
          </a:r>
          <a:endParaRPr lang="en-US"/>
        </a:p>
      </dgm:t>
    </dgm:pt>
    <dgm:pt modelId="{B7BE9C09-841D-4E58-95B8-58126EE166B5}" type="parTrans" cxnId="{99D3B525-4D26-4775-8586-A21A4B7BB7D4}">
      <dgm:prSet/>
      <dgm:spPr/>
      <dgm:t>
        <a:bodyPr/>
        <a:lstStyle/>
        <a:p>
          <a:endParaRPr lang="en-US"/>
        </a:p>
      </dgm:t>
    </dgm:pt>
    <dgm:pt modelId="{B8CD6AD7-8D34-4460-9A7F-754030EB04CB}" type="sibTrans" cxnId="{99D3B525-4D26-4775-8586-A21A4B7BB7D4}">
      <dgm:prSet/>
      <dgm:spPr/>
      <dgm:t>
        <a:bodyPr/>
        <a:lstStyle/>
        <a:p>
          <a:endParaRPr lang="en-US"/>
        </a:p>
      </dgm:t>
    </dgm:pt>
    <dgm:pt modelId="{237E8E74-BC88-4C15-843E-686EE3B36524}">
      <dgm:prSet/>
      <dgm:spPr/>
      <dgm:t>
        <a:bodyPr/>
        <a:lstStyle/>
        <a:p>
          <a:r>
            <a:rPr lang="sk-SK"/>
            <a:t>Podľa autorov ide o jazyk podobný C++, no v skutočnosti je to akýsi Metajazyk či vylepšená sada makier nad C++. Wiring pôvodne vznikol pre vývojový kit podobný Arduinu a vychádza z ďalšieho open source projektu, ktorý sa volá Processing. Môžete si všimnúť určitej podobnosti v logu Arduino a Processing.</a:t>
          </a:r>
          <a:endParaRPr lang="en-US"/>
        </a:p>
      </dgm:t>
    </dgm:pt>
    <dgm:pt modelId="{3D5CFBB9-7305-4A7A-ABE9-5676F528D042}" type="parTrans" cxnId="{65A15356-9539-4CE7-A9EA-B326122629D0}">
      <dgm:prSet/>
      <dgm:spPr/>
      <dgm:t>
        <a:bodyPr/>
        <a:lstStyle/>
        <a:p>
          <a:endParaRPr lang="en-US"/>
        </a:p>
      </dgm:t>
    </dgm:pt>
    <dgm:pt modelId="{8387CB83-EB42-430D-8260-B5B4A02E775C}" type="sibTrans" cxnId="{65A15356-9539-4CE7-A9EA-B326122629D0}">
      <dgm:prSet/>
      <dgm:spPr/>
      <dgm:t>
        <a:bodyPr/>
        <a:lstStyle/>
        <a:p>
          <a:endParaRPr lang="en-US"/>
        </a:p>
      </dgm:t>
    </dgm:pt>
    <dgm:pt modelId="{FA0C79B3-C33A-4F90-84CA-6430F6BE22B2}" type="pres">
      <dgm:prSet presAssocID="{892401D0-75F1-45BE-A363-45E8DDA9CD6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09D85E7-097C-4754-9A23-DCF30569D215}" type="pres">
      <dgm:prSet presAssocID="{14D7690F-8CD7-4177-9897-9FBDCCFCAC2C}" presName="hierRoot1" presStyleCnt="0"/>
      <dgm:spPr/>
    </dgm:pt>
    <dgm:pt modelId="{B976B6E4-B833-42D7-9189-CEF7A495F842}" type="pres">
      <dgm:prSet presAssocID="{14D7690F-8CD7-4177-9897-9FBDCCFCAC2C}" presName="composite" presStyleCnt="0"/>
      <dgm:spPr/>
    </dgm:pt>
    <dgm:pt modelId="{667A8D74-9689-4DB9-9D25-3FD512CBB6E4}" type="pres">
      <dgm:prSet presAssocID="{14D7690F-8CD7-4177-9897-9FBDCCFCAC2C}" presName="background" presStyleLbl="node0" presStyleIdx="0" presStyleCnt="2"/>
      <dgm:spPr/>
    </dgm:pt>
    <dgm:pt modelId="{D9EEF493-DF8C-4332-9034-3F3DC3C23A0C}" type="pres">
      <dgm:prSet presAssocID="{14D7690F-8CD7-4177-9897-9FBDCCFCAC2C}" presName="text" presStyleLbl="fgAcc0" presStyleIdx="0" presStyleCnt="2">
        <dgm:presLayoutVars>
          <dgm:chPref val="3"/>
        </dgm:presLayoutVars>
      </dgm:prSet>
      <dgm:spPr/>
    </dgm:pt>
    <dgm:pt modelId="{C5852F39-6753-481A-A323-BDA69AF6638F}" type="pres">
      <dgm:prSet presAssocID="{14D7690F-8CD7-4177-9897-9FBDCCFCAC2C}" presName="hierChild2" presStyleCnt="0"/>
      <dgm:spPr/>
    </dgm:pt>
    <dgm:pt modelId="{C8D87996-E82F-4F47-8926-E128675394EA}" type="pres">
      <dgm:prSet presAssocID="{237E8E74-BC88-4C15-843E-686EE3B36524}" presName="hierRoot1" presStyleCnt="0"/>
      <dgm:spPr/>
    </dgm:pt>
    <dgm:pt modelId="{4B162F0B-45FA-4770-88E2-E58188C4F067}" type="pres">
      <dgm:prSet presAssocID="{237E8E74-BC88-4C15-843E-686EE3B36524}" presName="composite" presStyleCnt="0"/>
      <dgm:spPr/>
    </dgm:pt>
    <dgm:pt modelId="{C627A80A-A08B-4F64-9C77-C0E986B1E9CD}" type="pres">
      <dgm:prSet presAssocID="{237E8E74-BC88-4C15-843E-686EE3B36524}" presName="background" presStyleLbl="node0" presStyleIdx="1" presStyleCnt="2"/>
      <dgm:spPr/>
    </dgm:pt>
    <dgm:pt modelId="{55C7C360-C99E-4506-B736-6E51767214E8}" type="pres">
      <dgm:prSet presAssocID="{237E8E74-BC88-4C15-843E-686EE3B36524}" presName="text" presStyleLbl="fgAcc0" presStyleIdx="1" presStyleCnt="2">
        <dgm:presLayoutVars>
          <dgm:chPref val="3"/>
        </dgm:presLayoutVars>
      </dgm:prSet>
      <dgm:spPr/>
    </dgm:pt>
    <dgm:pt modelId="{473FF422-F25A-4882-86C1-4D2BBEADC487}" type="pres">
      <dgm:prSet presAssocID="{237E8E74-BC88-4C15-843E-686EE3B36524}" presName="hierChild2" presStyleCnt="0"/>
      <dgm:spPr/>
    </dgm:pt>
  </dgm:ptLst>
  <dgm:cxnLst>
    <dgm:cxn modelId="{99D3B525-4D26-4775-8586-A21A4B7BB7D4}" srcId="{892401D0-75F1-45BE-A363-45E8DDA9CD68}" destId="{14D7690F-8CD7-4177-9897-9FBDCCFCAC2C}" srcOrd="0" destOrd="0" parTransId="{B7BE9C09-841D-4E58-95B8-58126EE166B5}" sibTransId="{B8CD6AD7-8D34-4460-9A7F-754030EB04CB}"/>
    <dgm:cxn modelId="{236AA16D-9F69-4FFA-A1EE-4F7AC38E30FB}" type="presOf" srcId="{14D7690F-8CD7-4177-9897-9FBDCCFCAC2C}" destId="{D9EEF493-DF8C-4332-9034-3F3DC3C23A0C}" srcOrd="0" destOrd="0" presId="urn:microsoft.com/office/officeart/2005/8/layout/hierarchy1"/>
    <dgm:cxn modelId="{65A15356-9539-4CE7-A9EA-B326122629D0}" srcId="{892401D0-75F1-45BE-A363-45E8DDA9CD68}" destId="{237E8E74-BC88-4C15-843E-686EE3B36524}" srcOrd="1" destOrd="0" parTransId="{3D5CFBB9-7305-4A7A-ABE9-5676F528D042}" sibTransId="{8387CB83-EB42-430D-8260-B5B4A02E775C}"/>
    <dgm:cxn modelId="{52D04690-3EAA-414C-8789-12435D42A36B}" type="presOf" srcId="{892401D0-75F1-45BE-A363-45E8DDA9CD68}" destId="{FA0C79B3-C33A-4F90-84CA-6430F6BE22B2}" srcOrd="0" destOrd="0" presId="urn:microsoft.com/office/officeart/2005/8/layout/hierarchy1"/>
    <dgm:cxn modelId="{1C924DBF-C689-412E-8075-8B035308E2F4}" type="presOf" srcId="{237E8E74-BC88-4C15-843E-686EE3B36524}" destId="{55C7C360-C99E-4506-B736-6E51767214E8}" srcOrd="0" destOrd="0" presId="urn:microsoft.com/office/officeart/2005/8/layout/hierarchy1"/>
    <dgm:cxn modelId="{4250A28F-1176-4E4F-AD55-A7AF37EA0123}" type="presParOf" srcId="{FA0C79B3-C33A-4F90-84CA-6430F6BE22B2}" destId="{009D85E7-097C-4754-9A23-DCF30569D215}" srcOrd="0" destOrd="0" presId="urn:microsoft.com/office/officeart/2005/8/layout/hierarchy1"/>
    <dgm:cxn modelId="{4556DC7B-3A8B-40A1-8311-871E97CFD0A8}" type="presParOf" srcId="{009D85E7-097C-4754-9A23-DCF30569D215}" destId="{B976B6E4-B833-42D7-9189-CEF7A495F842}" srcOrd="0" destOrd="0" presId="urn:microsoft.com/office/officeart/2005/8/layout/hierarchy1"/>
    <dgm:cxn modelId="{87832649-8334-4234-8350-CF4319CFF7D8}" type="presParOf" srcId="{B976B6E4-B833-42D7-9189-CEF7A495F842}" destId="{667A8D74-9689-4DB9-9D25-3FD512CBB6E4}" srcOrd="0" destOrd="0" presId="urn:microsoft.com/office/officeart/2005/8/layout/hierarchy1"/>
    <dgm:cxn modelId="{67F6DB6C-A385-4A76-A664-BEF4F03958D2}" type="presParOf" srcId="{B976B6E4-B833-42D7-9189-CEF7A495F842}" destId="{D9EEF493-DF8C-4332-9034-3F3DC3C23A0C}" srcOrd="1" destOrd="0" presId="urn:microsoft.com/office/officeart/2005/8/layout/hierarchy1"/>
    <dgm:cxn modelId="{7F74C8C7-95C8-45E2-8BD2-0189B0CBDFB7}" type="presParOf" srcId="{009D85E7-097C-4754-9A23-DCF30569D215}" destId="{C5852F39-6753-481A-A323-BDA69AF6638F}" srcOrd="1" destOrd="0" presId="urn:microsoft.com/office/officeart/2005/8/layout/hierarchy1"/>
    <dgm:cxn modelId="{65BCC906-28F0-43F8-BFBE-9D2D7E5C3E3B}" type="presParOf" srcId="{FA0C79B3-C33A-4F90-84CA-6430F6BE22B2}" destId="{C8D87996-E82F-4F47-8926-E128675394EA}" srcOrd="1" destOrd="0" presId="urn:microsoft.com/office/officeart/2005/8/layout/hierarchy1"/>
    <dgm:cxn modelId="{9EA2D32A-0A99-4BE7-BBFB-5A80ABEF3991}" type="presParOf" srcId="{C8D87996-E82F-4F47-8926-E128675394EA}" destId="{4B162F0B-45FA-4770-88E2-E58188C4F067}" srcOrd="0" destOrd="0" presId="urn:microsoft.com/office/officeart/2005/8/layout/hierarchy1"/>
    <dgm:cxn modelId="{E75BE3EB-BEE6-4AF6-90C8-E34FDA43593A}" type="presParOf" srcId="{4B162F0B-45FA-4770-88E2-E58188C4F067}" destId="{C627A80A-A08B-4F64-9C77-C0E986B1E9CD}" srcOrd="0" destOrd="0" presId="urn:microsoft.com/office/officeart/2005/8/layout/hierarchy1"/>
    <dgm:cxn modelId="{42853A9C-DCD3-4B22-8749-491662B6FE7A}" type="presParOf" srcId="{4B162F0B-45FA-4770-88E2-E58188C4F067}" destId="{55C7C360-C99E-4506-B736-6E51767214E8}" srcOrd="1" destOrd="0" presId="urn:microsoft.com/office/officeart/2005/8/layout/hierarchy1"/>
    <dgm:cxn modelId="{B88BDDB8-216E-4023-BD0E-2C4C74177B8B}" type="presParOf" srcId="{C8D87996-E82F-4F47-8926-E128675394EA}" destId="{473FF422-F25A-4882-86C1-4D2BBEADC48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835722B-576D-48E2-94AB-5C37C20FCFC7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C4362DF-0A19-438E-8CD8-065AF0D5C47B}">
      <dgm:prSet/>
      <dgm:spPr/>
      <dgm:t>
        <a:bodyPr/>
        <a:lstStyle/>
        <a:p>
          <a:r>
            <a:rPr lang="sk-SK" b="1"/>
            <a:t>Binárne číslice</a:t>
          </a:r>
          <a:br>
            <a:rPr lang="sk-SK"/>
          </a:br>
          <a:r>
            <a:rPr lang="sk-SK"/>
            <a:t>Väčšina digitálnych obvodov používa </a:t>
          </a:r>
          <a:r>
            <a:rPr lang="sk-SK" i="1"/>
            <a:t>binárny systém</a:t>
          </a:r>
          <a:r>
            <a:rPr lang="sk-SK"/>
            <a:t>, ktorý pozná iba dve číslice (1 a 0), ktoré môžu predstavovať dve úrovne napätia. Binárna číslica sa nazýva bit. </a:t>
          </a:r>
          <a:r>
            <a:rPr lang="sk-SK" b="1"/>
            <a:t>Logická 0</a:t>
          </a:r>
          <a:r>
            <a:rPr lang="sk-SK"/>
            <a:t> bude často nižšie napätie a označuje sa ako úroveň LOW, zatiaľ čo </a:t>
          </a:r>
          <a:r>
            <a:rPr lang="sk-SK" b="1"/>
            <a:t>logická 1</a:t>
          </a:r>
          <a:r>
            <a:rPr lang="sk-SK"/>
            <a:t> sa označuje ako úroveň HIGH. Toto priradenie napäťových úrovní sa nazýva pozitívna logika a bude používané v celej učebnici.</a:t>
          </a:r>
          <a:endParaRPr lang="en-US"/>
        </a:p>
      </dgm:t>
    </dgm:pt>
    <dgm:pt modelId="{0942046C-BBA7-4CCC-B493-FC9B3466EE11}" type="parTrans" cxnId="{11F53BDD-9EA6-4A98-ADD2-B970D3396998}">
      <dgm:prSet/>
      <dgm:spPr/>
      <dgm:t>
        <a:bodyPr/>
        <a:lstStyle/>
        <a:p>
          <a:endParaRPr lang="en-US"/>
        </a:p>
      </dgm:t>
    </dgm:pt>
    <dgm:pt modelId="{9C2652AD-718C-48EC-84EA-0E6A47A669DF}" type="sibTrans" cxnId="{11F53BDD-9EA6-4A98-ADD2-B970D3396998}">
      <dgm:prSet/>
      <dgm:spPr/>
      <dgm:t>
        <a:bodyPr/>
        <a:lstStyle/>
        <a:p>
          <a:endParaRPr lang="en-US"/>
        </a:p>
      </dgm:t>
    </dgm:pt>
    <dgm:pt modelId="{558EF4C4-B831-43F7-B09D-25A62C2DDD8A}">
      <dgm:prSet/>
      <dgm:spPr/>
      <dgm:t>
        <a:bodyPr/>
        <a:lstStyle/>
        <a:p>
          <a:r>
            <a:rPr lang="sk-SK" i="1"/>
            <a:t>Samozrejme, je možné priradiť logickú 0 úrovni HIGH a logickú 1 úrovni LOW a vtedy budeme hovoriť o negatívnej logike.</a:t>
          </a:r>
          <a:r>
            <a:rPr lang="sk-SK"/>
            <a:t> V digitálnych systémoch sa kombinácia určitého počtu bitov 1 a 0 nazýva binárny kód, ktorý sa používa na reprezentáciu čísel, symbolov, abecedných znakov a iných typov informácií.</a:t>
          </a:r>
          <a:endParaRPr lang="en-US"/>
        </a:p>
      </dgm:t>
    </dgm:pt>
    <dgm:pt modelId="{753EC1FC-7A60-4116-A8A9-2FB9E99CB317}" type="parTrans" cxnId="{12A7F58B-967B-4DF8-BB5B-7C8B8E81BC11}">
      <dgm:prSet/>
      <dgm:spPr/>
      <dgm:t>
        <a:bodyPr/>
        <a:lstStyle/>
        <a:p>
          <a:endParaRPr lang="en-US"/>
        </a:p>
      </dgm:t>
    </dgm:pt>
    <dgm:pt modelId="{B56CF63B-7A80-410B-9F67-3D1DAEC2F3FC}" type="sibTrans" cxnId="{12A7F58B-967B-4DF8-BB5B-7C8B8E81BC11}">
      <dgm:prSet/>
      <dgm:spPr/>
      <dgm:t>
        <a:bodyPr/>
        <a:lstStyle/>
        <a:p>
          <a:endParaRPr lang="en-US"/>
        </a:p>
      </dgm:t>
    </dgm:pt>
    <dgm:pt modelId="{8D0699FD-9F1C-4C86-8004-7D0AD5F45AAD}">
      <dgm:prSet/>
      <dgm:spPr/>
      <dgm:t>
        <a:bodyPr/>
        <a:lstStyle/>
        <a:p>
          <a:r>
            <a:rPr lang="sk-SK" b="1"/>
            <a:t>Logické úrovne</a:t>
          </a:r>
          <a:br>
            <a:rPr lang="sk-SK"/>
          </a:br>
          <a:r>
            <a:rPr lang="sk-SK"/>
            <a:t>Napätie používané na vyjadrenie </a:t>
          </a:r>
          <a:r>
            <a:rPr lang="sk-SK" i="1"/>
            <a:t>1 alebo 0 sa nazýva logická úroveň</a:t>
          </a:r>
          <a:r>
            <a:rPr lang="sk-SK"/>
            <a:t>. V praktickom digitálnom obvode môže byť HIGH úroveň akákoľvek úroveň napätia medzi špecifikovanou minimálnou hodnotou a špecifikovanou maximálnou hodnotou. Podobne LOW môže byť akákoľvek úroveň napätia medzi špecifikovaným minimom a špecifikovaným maximom. </a:t>
          </a:r>
          <a:r>
            <a:rPr lang="sk-SK" b="1"/>
            <a:t>Rozsahy napäťových úrovni HIGH a LOW sa neprekrývajú</a:t>
          </a:r>
          <a:r>
            <a:rPr lang="sk-SK"/>
            <a:t>.</a:t>
          </a:r>
          <a:endParaRPr lang="en-US"/>
        </a:p>
      </dgm:t>
    </dgm:pt>
    <dgm:pt modelId="{82B36BBD-4215-410B-812A-9FC9EEAC9B16}" type="parTrans" cxnId="{61494919-6FA1-41F3-B431-8C3D0BD17BF0}">
      <dgm:prSet/>
      <dgm:spPr/>
      <dgm:t>
        <a:bodyPr/>
        <a:lstStyle/>
        <a:p>
          <a:endParaRPr lang="en-US"/>
        </a:p>
      </dgm:t>
    </dgm:pt>
    <dgm:pt modelId="{860D48C6-788B-40D9-8B62-F06C04A6BFBB}" type="sibTrans" cxnId="{61494919-6FA1-41F3-B431-8C3D0BD17BF0}">
      <dgm:prSet/>
      <dgm:spPr/>
      <dgm:t>
        <a:bodyPr/>
        <a:lstStyle/>
        <a:p>
          <a:endParaRPr lang="en-US"/>
        </a:p>
      </dgm:t>
    </dgm:pt>
    <dgm:pt modelId="{240D8D7D-6B4E-4E8D-8875-2AD963D886FF}" type="pres">
      <dgm:prSet presAssocID="{5835722B-576D-48E2-94AB-5C37C20FCFC7}" presName="Name0" presStyleCnt="0">
        <dgm:presLayoutVars>
          <dgm:dir/>
          <dgm:resizeHandles val="exact"/>
        </dgm:presLayoutVars>
      </dgm:prSet>
      <dgm:spPr/>
    </dgm:pt>
    <dgm:pt modelId="{F03AC925-7623-4C4C-94DC-2A621B206AB6}" type="pres">
      <dgm:prSet presAssocID="{9C4362DF-0A19-438E-8CD8-065AF0D5C47B}" presName="node" presStyleLbl="node1" presStyleIdx="0" presStyleCnt="3">
        <dgm:presLayoutVars>
          <dgm:bulletEnabled val="1"/>
        </dgm:presLayoutVars>
      </dgm:prSet>
      <dgm:spPr/>
    </dgm:pt>
    <dgm:pt modelId="{F432FEAD-1023-4232-B440-599C62AED424}" type="pres">
      <dgm:prSet presAssocID="{9C2652AD-718C-48EC-84EA-0E6A47A669DF}" presName="sibTrans" presStyleLbl="sibTrans2D1" presStyleIdx="0" presStyleCnt="2"/>
      <dgm:spPr/>
    </dgm:pt>
    <dgm:pt modelId="{52ED4B39-697E-4777-80F2-D9BC1A42D29C}" type="pres">
      <dgm:prSet presAssocID="{9C2652AD-718C-48EC-84EA-0E6A47A669DF}" presName="connectorText" presStyleLbl="sibTrans2D1" presStyleIdx="0" presStyleCnt="2"/>
      <dgm:spPr/>
    </dgm:pt>
    <dgm:pt modelId="{0FA5DFA7-2D76-4FA1-BE8D-C4D478DCCC84}" type="pres">
      <dgm:prSet presAssocID="{558EF4C4-B831-43F7-B09D-25A62C2DDD8A}" presName="node" presStyleLbl="node1" presStyleIdx="1" presStyleCnt="3">
        <dgm:presLayoutVars>
          <dgm:bulletEnabled val="1"/>
        </dgm:presLayoutVars>
      </dgm:prSet>
      <dgm:spPr/>
    </dgm:pt>
    <dgm:pt modelId="{10DE1BAA-003B-4505-AA34-032B17519E7E}" type="pres">
      <dgm:prSet presAssocID="{B56CF63B-7A80-410B-9F67-3D1DAEC2F3FC}" presName="sibTrans" presStyleLbl="sibTrans2D1" presStyleIdx="1" presStyleCnt="2"/>
      <dgm:spPr/>
    </dgm:pt>
    <dgm:pt modelId="{E947C287-D56C-4A09-85D6-17BB67B51CBC}" type="pres">
      <dgm:prSet presAssocID="{B56CF63B-7A80-410B-9F67-3D1DAEC2F3FC}" presName="connectorText" presStyleLbl="sibTrans2D1" presStyleIdx="1" presStyleCnt="2"/>
      <dgm:spPr/>
    </dgm:pt>
    <dgm:pt modelId="{05E04A5D-53C7-467D-A9BC-0D4DFA535416}" type="pres">
      <dgm:prSet presAssocID="{8D0699FD-9F1C-4C86-8004-7D0AD5F45AAD}" presName="node" presStyleLbl="node1" presStyleIdx="2" presStyleCnt="3">
        <dgm:presLayoutVars>
          <dgm:bulletEnabled val="1"/>
        </dgm:presLayoutVars>
      </dgm:prSet>
      <dgm:spPr/>
    </dgm:pt>
  </dgm:ptLst>
  <dgm:cxnLst>
    <dgm:cxn modelId="{4A055A07-A01F-4184-A400-A50B78C93C04}" type="presOf" srcId="{558EF4C4-B831-43F7-B09D-25A62C2DDD8A}" destId="{0FA5DFA7-2D76-4FA1-BE8D-C4D478DCCC84}" srcOrd="0" destOrd="0" presId="urn:microsoft.com/office/officeart/2005/8/layout/process1"/>
    <dgm:cxn modelId="{61494919-6FA1-41F3-B431-8C3D0BD17BF0}" srcId="{5835722B-576D-48E2-94AB-5C37C20FCFC7}" destId="{8D0699FD-9F1C-4C86-8004-7D0AD5F45AAD}" srcOrd="2" destOrd="0" parTransId="{82B36BBD-4215-410B-812A-9FC9EEAC9B16}" sibTransId="{860D48C6-788B-40D9-8B62-F06C04A6BFBB}"/>
    <dgm:cxn modelId="{7A66C559-75CE-4071-9D1A-67D0AF362465}" type="presOf" srcId="{B56CF63B-7A80-410B-9F67-3D1DAEC2F3FC}" destId="{E947C287-D56C-4A09-85D6-17BB67B51CBC}" srcOrd="1" destOrd="0" presId="urn:microsoft.com/office/officeart/2005/8/layout/process1"/>
    <dgm:cxn modelId="{68F22880-2FA2-4ECC-9833-BC652E9DB779}" type="presOf" srcId="{5835722B-576D-48E2-94AB-5C37C20FCFC7}" destId="{240D8D7D-6B4E-4E8D-8875-2AD963D886FF}" srcOrd="0" destOrd="0" presId="urn:microsoft.com/office/officeart/2005/8/layout/process1"/>
    <dgm:cxn modelId="{2C1FBE80-7E8E-40EB-A62F-6D8839C62ACA}" type="presOf" srcId="{8D0699FD-9F1C-4C86-8004-7D0AD5F45AAD}" destId="{05E04A5D-53C7-467D-A9BC-0D4DFA535416}" srcOrd="0" destOrd="0" presId="urn:microsoft.com/office/officeart/2005/8/layout/process1"/>
    <dgm:cxn modelId="{2C973C86-F9A0-4ED8-9C09-976E926CE47F}" type="presOf" srcId="{B56CF63B-7A80-410B-9F67-3D1DAEC2F3FC}" destId="{10DE1BAA-003B-4505-AA34-032B17519E7E}" srcOrd="0" destOrd="0" presId="urn:microsoft.com/office/officeart/2005/8/layout/process1"/>
    <dgm:cxn modelId="{12A7F58B-967B-4DF8-BB5B-7C8B8E81BC11}" srcId="{5835722B-576D-48E2-94AB-5C37C20FCFC7}" destId="{558EF4C4-B831-43F7-B09D-25A62C2DDD8A}" srcOrd="1" destOrd="0" parTransId="{753EC1FC-7A60-4116-A8A9-2FB9E99CB317}" sibTransId="{B56CF63B-7A80-410B-9F67-3D1DAEC2F3FC}"/>
    <dgm:cxn modelId="{21E1ADC4-FCA9-49DA-B440-14EED1FE6451}" type="presOf" srcId="{9C2652AD-718C-48EC-84EA-0E6A47A669DF}" destId="{52ED4B39-697E-4777-80F2-D9BC1A42D29C}" srcOrd="1" destOrd="0" presId="urn:microsoft.com/office/officeart/2005/8/layout/process1"/>
    <dgm:cxn modelId="{559DA7D5-D566-482F-956D-C75CF593A237}" type="presOf" srcId="{9C2652AD-718C-48EC-84EA-0E6A47A669DF}" destId="{F432FEAD-1023-4232-B440-599C62AED424}" srcOrd="0" destOrd="0" presId="urn:microsoft.com/office/officeart/2005/8/layout/process1"/>
    <dgm:cxn modelId="{11F53BDD-9EA6-4A98-ADD2-B970D3396998}" srcId="{5835722B-576D-48E2-94AB-5C37C20FCFC7}" destId="{9C4362DF-0A19-438E-8CD8-065AF0D5C47B}" srcOrd="0" destOrd="0" parTransId="{0942046C-BBA7-4CCC-B493-FC9B3466EE11}" sibTransId="{9C2652AD-718C-48EC-84EA-0E6A47A669DF}"/>
    <dgm:cxn modelId="{1DDDC3FC-F64D-47C2-AD66-0E9128618394}" type="presOf" srcId="{9C4362DF-0A19-438E-8CD8-065AF0D5C47B}" destId="{F03AC925-7623-4C4C-94DC-2A621B206AB6}" srcOrd="0" destOrd="0" presId="urn:microsoft.com/office/officeart/2005/8/layout/process1"/>
    <dgm:cxn modelId="{A19EBC95-82AD-4549-8B8D-E0CFD9C90141}" type="presParOf" srcId="{240D8D7D-6B4E-4E8D-8875-2AD963D886FF}" destId="{F03AC925-7623-4C4C-94DC-2A621B206AB6}" srcOrd="0" destOrd="0" presId="urn:microsoft.com/office/officeart/2005/8/layout/process1"/>
    <dgm:cxn modelId="{E3A6EE51-2147-4762-8376-5C517F4281E8}" type="presParOf" srcId="{240D8D7D-6B4E-4E8D-8875-2AD963D886FF}" destId="{F432FEAD-1023-4232-B440-599C62AED424}" srcOrd="1" destOrd="0" presId="urn:microsoft.com/office/officeart/2005/8/layout/process1"/>
    <dgm:cxn modelId="{DAF590A9-92B4-4C60-BACA-2FFBE197A90E}" type="presParOf" srcId="{F432FEAD-1023-4232-B440-599C62AED424}" destId="{52ED4B39-697E-4777-80F2-D9BC1A42D29C}" srcOrd="0" destOrd="0" presId="urn:microsoft.com/office/officeart/2005/8/layout/process1"/>
    <dgm:cxn modelId="{32561026-B831-45DC-B7B1-57ABC184A254}" type="presParOf" srcId="{240D8D7D-6B4E-4E8D-8875-2AD963D886FF}" destId="{0FA5DFA7-2D76-4FA1-BE8D-C4D478DCCC84}" srcOrd="2" destOrd="0" presId="urn:microsoft.com/office/officeart/2005/8/layout/process1"/>
    <dgm:cxn modelId="{C96D8ED4-6D95-432E-99EE-3D488869E3C1}" type="presParOf" srcId="{240D8D7D-6B4E-4E8D-8875-2AD963D886FF}" destId="{10DE1BAA-003B-4505-AA34-032B17519E7E}" srcOrd="3" destOrd="0" presId="urn:microsoft.com/office/officeart/2005/8/layout/process1"/>
    <dgm:cxn modelId="{01C703CB-9118-4362-AC85-D80473BBDEA5}" type="presParOf" srcId="{10DE1BAA-003B-4505-AA34-032B17519E7E}" destId="{E947C287-D56C-4A09-85D6-17BB67B51CBC}" srcOrd="0" destOrd="0" presId="urn:microsoft.com/office/officeart/2005/8/layout/process1"/>
    <dgm:cxn modelId="{BAD599FE-0536-4477-9308-12D302545C48}" type="presParOf" srcId="{240D8D7D-6B4E-4E8D-8875-2AD963D886FF}" destId="{05E04A5D-53C7-467D-A9BC-0D4DFA535416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A8D74-9689-4DB9-9D25-3FD512CBB6E4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EEF493-DF8C-4332-9034-3F3DC3C23A0C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2100" kern="1200"/>
            <a:t>Programovací jazyk, v ktorom prebieha  programovanie Arduina, sa volá Wiring. Lepšie povedané vychádza z jazyka C++, ale rozdiely sú minimálne.</a:t>
          </a:r>
          <a:endParaRPr lang="en-US" sz="2100" kern="1200"/>
        </a:p>
      </dsp:txBody>
      <dsp:txXfrm>
        <a:off x="608661" y="692298"/>
        <a:ext cx="4508047" cy="2799040"/>
      </dsp:txXfrm>
    </dsp:sp>
    <dsp:sp modelId="{C627A80A-A08B-4F64-9C77-C0E986B1E9CD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C7C360-C99E-4506-B736-6E51767214E8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2100" kern="1200"/>
            <a:t>Podľa autorov ide o jazyk podobný C++, no v skutočnosti je to akýsi Metajazyk či vylepšená sada makier nad C++. Wiring pôvodne vznikol pre vývojový kit podobný Arduinu a vychádza z ďalšieho open source projektu, ktorý sa volá Processing. Môžete si všimnúť určitej podobnosti v logu Arduino a Processing.</a:t>
          </a:r>
          <a:endParaRPr lang="en-US" sz="2100" kern="1200"/>
        </a:p>
      </dsp:txBody>
      <dsp:txXfrm>
        <a:off x="6331365" y="692298"/>
        <a:ext cx="4508047" cy="27990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3AC925-7623-4C4C-94DC-2A621B206AB6}">
      <dsp:nvSpPr>
        <dsp:cNvPr id="0" name=""/>
        <dsp:cNvSpPr/>
      </dsp:nvSpPr>
      <dsp:spPr>
        <a:xfrm>
          <a:off x="9604" y="118083"/>
          <a:ext cx="2870689" cy="345323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1500" b="1" kern="1200"/>
            <a:t>Binárne číslice</a:t>
          </a:r>
          <a:br>
            <a:rPr lang="sk-SK" sz="1500" kern="1200"/>
          </a:br>
          <a:r>
            <a:rPr lang="sk-SK" sz="1500" kern="1200"/>
            <a:t>Väčšina digitálnych obvodov používa </a:t>
          </a:r>
          <a:r>
            <a:rPr lang="sk-SK" sz="1500" i="1" kern="1200"/>
            <a:t>binárny systém</a:t>
          </a:r>
          <a:r>
            <a:rPr lang="sk-SK" sz="1500" kern="1200"/>
            <a:t>, ktorý pozná iba dve číslice (1 a 0), ktoré môžu predstavovať dve úrovne napätia. Binárna číslica sa nazýva bit. </a:t>
          </a:r>
          <a:r>
            <a:rPr lang="sk-SK" sz="1500" b="1" kern="1200"/>
            <a:t>Logická 0</a:t>
          </a:r>
          <a:r>
            <a:rPr lang="sk-SK" sz="1500" kern="1200"/>
            <a:t> bude často nižšie napätie a označuje sa ako úroveň LOW, zatiaľ čo </a:t>
          </a:r>
          <a:r>
            <a:rPr lang="sk-SK" sz="1500" b="1" kern="1200"/>
            <a:t>logická 1</a:t>
          </a:r>
          <a:r>
            <a:rPr lang="sk-SK" sz="1500" kern="1200"/>
            <a:t> sa označuje ako úroveň HIGH. Toto priradenie napäťových úrovní sa nazýva pozitívna logika a bude používané v celej učebnici.</a:t>
          </a:r>
          <a:endParaRPr lang="en-US" sz="1500" kern="1200"/>
        </a:p>
      </dsp:txBody>
      <dsp:txXfrm>
        <a:off x="93684" y="202163"/>
        <a:ext cx="2702529" cy="3285077"/>
      </dsp:txXfrm>
    </dsp:sp>
    <dsp:sp modelId="{F432FEAD-1023-4232-B440-599C62AED424}">
      <dsp:nvSpPr>
        <dsp:cNvPr id="0" name=""/>
        <dsp:cNvSpPr/>
      </dsp:nvSpPr>
      <dsp:spPr>
        <a:xfrm>
          <a:off x="3167362" y="1488737"/>
          <a:ext cx="608586" cy="7119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3167362" y="1631123"/>
        <a:ext cx="426010" cy="427158"/>
      </dsp:txXfrm>
    </dsp:sp>
    <dsp:sp modelId="{0FA5DFA7-2D76-4FA1-BE8D-C4D478DCCC84}">
      <dsp:nvSpPr>
        <dsp:cNvPr id="0" name=""/>
        <dsp:cNvSpPr/>
      </dsp:nvSpPr>
      <dsp:spPr>
        <a:xfrm>
          <a:off x="4028569" y="118083"/>
          <a:ext cx="2870689" cy="345323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1500" i="1" kern="1200"/>
            <a:t>Samozrejme, je možné priradiť logickú 0 úrovni HIGH a logickú 1 úrovni LOW a vtedy budeme hovoriť o negatívnej logike.</a:t>
          </a:r>
          <a:r>
            <a:rPr lang="sk-SK" sz="1500" kern="1200"/>
            <a:t> V digitálnych systémoch sa kombinácia určitého počtu bitov 1 a 0 nazýva binárny kód, ktorý sa používa na reprezentáciu čísel, symbolov, abecedných znakov a iných typov informácií.</a:t>
          </a:r>
          <a:endParaRPr lang="en-US" sz="1500" kern="1200"/>
        </a:p>
      </dsp:txBody>
      <dsp:txXfrm>
        <a:off x="4112649" y="202163"/>
        <a:ext cx="2702529" cy="3285077"/>
      </dsp:txXfrm>
    </dsp:sp>
    <dsp:sp modelId="{10DE1BAA-003B-4505-AA34-032B17519E7E}">
      <dsp:nvSpPr>
        <dsp:cNvPr id="0" name=""/>
        <dsp:cNvSpPr/>
      </dsp:nvSpPr>
      <dsp:spPr>
        <a:xfrm>
          <a:off x="7186328" y="1488737"/>
          <a:ext cx="608586" cy="7119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7186328" y="1631123"/>
        <a:ext cx="426010" cy="427158"/>
      </dsp:txXfrm>
    </dsp:sp>
    <dsp:sp modelId="{05E04A5D-53C7-467D-A9BC-0D4DFA535416}">
      <dsp:nvSpPr>
        <dsp:cNvPr id="0" name=""/>
        <dsp:cNvSpPr/>
      </dsp:nvSpPr>
      <dsp:spPr>
        <a:xfrm>
          <a:off x="8047535" y="118083"/>
          <a:ext cx="2870689" cy="345323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1500" b="1" kern="1200"/>
            <a:t>Logické úrovne</a:t>
          </a:r>
          <a:br>
            <a:rPr lang="sk-SK" sz="1500" kern="1200"/>
          </a:br>
          <a:r>
            <a:rPr lang="sk-SK" sz="1500" kern="1200"/>
            <a:t>Napätie používané na vyjadrenie </a:t>
          </a:r>
          <a:r>
            <a:rPr lang="sk-SK" sz="1500" i="1" kern="1200"/>
            <a:t>1 alebo 0 sa nazýva logická úroveň</a:t>
          </a:r>
          <a:r>
            <a:rPr lang="sk-SK" sz="1500" kern="1200"/>
            <a:t>. V praktickom digitálnom obvode môže byť HIGH úroveň akákoľvek úroveň napätia medzi špecifikovanou minimálnou hodnotou a špecifikovanou maximálnou hodnotou. Podobne LOW môže byť akákoľvek úroveň napätia medzi špecifikovaným minimom a špecifikovaným maximom. </a:t>
          </a:r>
          <a:r>
            <a:rPr lang="sk-SK" sz="1500" b="1" kern="1200"/>
            <a:t>Rozsahy napäťových úrovni HIGH a LOW sa neprekrývajú</a:t>
          </a:r>
          <a:r>
            <a:rPr lang="sk-SK" sz="1500" kern="1200"/>
            <a:t>.</a:t>
          </a:r>
          <a:endParaRPr lang="en-US" sz="1500" kern="1200"/>
        </a:p>
      </dsp:txBody>
      <dsp:txXfrm>
        <a:off x="8131615" y="202163"/>
        <a:ext cx="2702529" cy="32850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0242E5-6E9E-4B67-9545-4FACC4CE29D4}" type="datetimeFigureOut">
              <a:rPr lang="sk-SK" smtClean="0"/>
              <a:t>22. 10. 2026</a:t>
            </a:fld>
            <a:endParaRPr lang="sk-SK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284B6A-C033-40B6-84B9-96EF0E88EFE0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886403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I0ZIrzoI61g?feature=oembed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jpeg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5W_Gwo0-Dak?feature=oembed" TargetMode="Externa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SPp6xs0Gv70?feature=oembed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1371600"/>
            <a:ext cx="914400" cy="914400"/>
          </a:xfrm>
          <a:prstGeom prst="ellipse">
            <a:avLst/>
          </a:prstGeom>
          <a:solidFill>
            <a:srgbClr val="182B46"/>
          </a:solidFill>
          <a:ln w="31750">
            <a:solidFill>
              <a:srgbClr val="3EC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3ECADC"/>
                </a:solidFill>
                <a:latin typeface="Aptos Display"/>
              </a:rPr>
              <a:t>1</a:t>
            </a:r>
          </a:p>
        </p:txBody>
      </p:sp>
      <p:sp>
        <p:nvSpPr>
          <p:cNvPr id="3" name="Oval 2"/>
          <p:cNvSpPr/>
          <p:nvPr/>
        </p:nvSpPr>
        <p:spPr>
          <a:xfrm>
            <a:off x="10058400" y="2377440"/>
            <a:ext cx="914400" cy="914400"/>
          </a:xfrm>
          <a:prstGeom prst="ellipse">
            <a:avLst/>
          </a:prstGeom>
          <a:solidFill>
            <a:srgbClr val="182B46"/>
          </a:solidFill>
          <a:ln w="31750">
            <a:solidFill>
              <a:srgbClr val="FFC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C341"/>
                </a:solidFill>
                <a:latin typeface="Aptos Display"/>
              </a:rPr>
              <a:t>0</a:t>
            </a:r>
          </a:p>
        </p:txBody>
      </p:sp>
      <p:sp>
        <p:nvSpPr>
          <p:cNvPr id="4" name="Oval 3"/>
          <p:cNvSpPr/>
          <p:nvPr/>
        </p:nvSpPr>
        <p:spPr>
          <a:xfrm>
            <a:off x="8412480" y="3749039"/>
            <a:ext cx="914400" cy="914400"/>
          </a:xfrm>
          <a:prstGeom prst="ellipse">
            <a:avLst/>
          </a:prstGeom>
          <a:solidFill>
            <a:srgbClr val="182B46"/>
          </a:solidFill>
          <a:ln w="31750">
            <a:solidFill>
              <a:srgbClr val="4BD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4BD291"/>
                </a:solidFill>
                <a:latin typeface="Aptos Display"/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10424160" y="4572000"/>
            <a:ext cx="914400" cy="914400"/>
          </a:xfrm>
          <a:prstGeom prst="ellipse">
            <a:avLst/>
          </a:prstGeom>
          <a:solidFill>
            <a:srgbClr val="182B46"/>
          </a:solidFill>
          <a:ln w="31750">
            <a:solidFill>
              <a:srgbClr val="3EC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3ECADC"/>
                </a:solidFill>
                <a:latin typeface="Aptos Display"/>
              </a:rPr>
              <a:t>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0" y="1828800"/>
            <a:ext cx="914400" cy="914400"/>
          </a:xfrm>
          <a:prstGeom prst="line">
            <a:avLst/>
          </a:prstGeom>
          <a:ln w="25400">
            <a:solidFill>
              <a:srgbClr val="3C5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144000" y="4114800"/>
            <a:ext cx="1280160" cy="731520"/>
          </a:xfrm>
          <a:prstGeom prst="line">
            <a:avLst/>
          </a:prstGeom>
          <a:ln w="25400">
            <a:solidFill>
              <a:srgbClr val="3C5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8869680" y="3108960"/>
            <a:ext cx="1554480" cy="640079"/>
          </a:xfrm>
          <a:prstGeom prst="line">
            <a:avLst/>
          </a:prstGeom>
          <a:ln w="25400">
            <a:solidFill>
              <a:srgbClr val="3C5C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1463040"/>
            <a:ext cx="7680960" cy="18288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3100" b="1">
                <a:solidFill>
                  <a:srgbClr val="F5F8FC"/>
                </a:solidFill>
                <a:latin typeface="Aptos"/>
              </a:rPr>
              <a:t>DIGITÁLNE LOGICKÉ
STAVY A ICH SPRACOVANIE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57600"/>
            <a:ext cx="6858000" cy="5943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000" b="0">
                <a:solidFill>
                  <a:srgbClr val="3ECADC"/>
                </a:solidFill>
                <a:latin typeface="Aptos"/>
              </a:rPr>
              <a:t>Základy práce s digitálnymi pinmi mikrokontroléra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6400800" cy="4114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500" b="0">
                <a:solidFill>
                  <a:srgbClr val="B2C3D7"/>
                </a:solidFill>
                <a:latin typeface="Aptos"/>
              </a:rPr>
              <a:t>45-minútová prednáška  •  Arduino / ESP32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2C3D7"/>
                </a:solidFill>
                <a:latin typeface="Aptos"/>
              </a:rPr>
              <a:t>01  / 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5DDF8EA-234B-CDAB-D4B9-3252A6DC3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sk-SK" sz="4000">
                <a:solidFill>
                  <a:srgbClr val="FFFFFF"/>
                </a:solidFill>
              </a:rPr>
              <a:t>Wiring</a:t>
            </a:r>
          </a:p>
        </p:txBody>
      </p:sp>
      <p:graphicFrame>
        <p:nvGraphicFramePr>
          <p:cNvPr id="19" name="Zástupný objekt pre obsah 2">
            <a:extLst>
              <a:ext uri="{FF2B5EF4-FFF2-40B4-BE49-F238E27FC236}">
                <a16:creationId xmlns:a16="http://schemas.microsoft.com/office/drawing/2014/main" id="{EB7F40A5-3681-06A8-00A9-CC4D603406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52825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17865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1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1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Zástupný objekt pre obsah 2">
            <a:extLst>
              <a:ext uri="{FF2B5EF4-FFF2-40B4-BE49-F238E27FC236}">
                <a16:creationId xmlns:a16="http://schemas.microsoft.com/office/drawing/2014/main" id="{0E53D9D6-58F1-4CB5-1625-5E32197D7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sk-SK" sz="1900" dirty="0"/>
              <a:t>Vývoj a návrh sledoval maximálnu jednoduchosť a zrozumiteľnosť pre programátora, ktorý s  programovaním </a:t>
            </a:r>
            <a:r>
              <a:rPr lang="sk-SK" sz="1900" dirty="0" err="1"/>
              <a:t>Arduina</a:t>
            </a:r>
            <a:r>
              <a:rPr lang="sk-SK" sz="1900" dirty="0"/>
              <a:t> začína. Syntakticky možno použiť všetky návyky, čo máme z C jazykov. Všetky tie zložené zátvorky, bodkočiarky, definície funkcií a premenných, poznámky, bloky aj riadiace konštrukcie budú povedomé každému, kto kedy prešiel okolo C. Pritom nie je potrebné zaoberať sa všetkou tou „objektovou omáčkou“ – z objektovej syntaxe zostáva v podstate jediný operátor „.“ (bodka).</a:t>
            </a:r>
          </a:p>
          <a:p>
            <a:endParaRPr lang="sk-SK" sz="1900" dirty="0"/>
          </a:p>
          <a:p>
            <a:pPr marL="0" indent="0" algn="just">
              <a:buNone/>
            </a:pPr>
            <a:r>
              <a:rPr lang="sk-SK" sz="1900" dirty="0"/>
              <a:t>Ak budeme pre </a:t>
            </a:r>
            <a:r>
              <a:rPr lang="sk-SK" sz="1900" dirty="0" err="1"/>
              <a:t>Arduino</a:t>
            </a:r>
            <a:r>
              <a:rPr lang="sk-SK" sz="1900" dirty="0"/>
              <a:t> vytvárať knižnice (a to budeme v niektorom z ďalších dielov), zostúpime aj o úroveň nižšie k C++, ale zatiaľ si vystačíme s jazykom </a:t>
            </a:r>
            <a:r>
              <a:rPr lang="sk-SK" sz="1900" dirty="0" err="1"/>
              <a:t>Wiring</a:t>
            </a:r>
            <a:r>
              <a:rPr lang="sk-SK" sz="1900" dirty="0"/>
              <a:t>. Pri vytváraní knižníc predpokladám, že čitatelia už poznajú jazyk C a že teda nie je potreba popisovať dopodrobna základy jazyka. Ostatne to hlavné uvidíme napr. pri pohľade do „</a:t>
            </a:r>
            <a:r>
              <a:rPr lang="sk-SK" sz="1900" dirty="0" err="1"/>
              <a:t>cheat</a:t>
            </a:r>
            <a:r>
              <a:rPr lang="sk-SK" sz="1900" dirty="0"/>
              <a:t> </a:t>
            </a:r>
            <a:r>
              <a:rPr lang="sk-SK" sz="1900" dirty="0" err="1"/>
              <a:t>sheetu</a:t>
            </a:r>
            <a:r>
              <a:rPr lang="sk-SK" sz="1900" dirty="0"/>
              <a:t>“ a odlišnosti si vysvetlíme, keď na </a:t>
            </a:r>
            <a:r>
              <a:rPr lang="sk-SK" sz="1900" dirty="0" err="1"/>
              <a:t>ne</a:t>
            </a:r>
            <a:r>
              <a:rPr lang="sk-SK" sz="1900" dirty="0"/>
              <a:t> narazíme. Zatiaľ nám stačí vedieť, že môžeme písať „</a:t>
            </a:r>
            <a:r>
              <a:rPr lang="sk-SK" sz="1900" dirty="0" err="1"/>
              <a:t>céčkové</a:t>
            </a:r>
            <a:r>
              <a:rPr lang="sk-SK" sz="1900" dirty="0"/>
              <a:t> programy“.</a:t>
            </a:r>
          </a:p>
        </p:txBody>
      </p:sp>
    </p:spTree>
    <p:extLst>
      <p:ext uri="{BB962C8B-B14F-4D97-AF65-F5344CB8AC3E}">
        <p14:creationId xmlns:p14="http://schemas.microsoft.com/office/powerpoint/2010/main" val="1279960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1. Čo je digitálny signál?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1051560" cy="50292"/>
          </a:xfrm>
          <a:prstGeom prst="rect">
            <a:avLst/>
          </a:prstGeom>
          <a:solidFill>
            <a:srgbClr val="3E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2C3D7"/>
                </a:solidFill>
                <a:latin typeface="Aptos"/>
              </a:rPr>
              <a:t>02  / 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12080" cy="192024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581912"/>
            <a:ext cx="480974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2373BE"/>
                </a:solidFill>
                <a:latin typeface="Aptos"/>
              </a:rPr>
              <a:t>ANALÓGOVÝ SIGNÁL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075688"/>
            <a:ext cx="4809744" cy="11155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Plynulo sa mení a môže nadobúdať veľa hodnôt.
Príklad: teplota alebo plynulá zmena jasu.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12080" cy="192024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64807" y="1581912"/>
            <a:ext cx="480974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3ECADC"/>
                </a:solidFill>
                <a:latin typeface="Aptos"/>
              </a:rPr>
              <a:t>DIGITÁLNY SIGNÁL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7" y="2075688"/>
            <a:ext cx="4809744" cy="11155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Používa diskrétne úrovne. V základnom digitálnom obvode rozlišujeme 0 a 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4572000" cy="3657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Príklad priebehu digitálneho signálu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" y="4572000"/>
            <a:ext cx="1280160" cy="0"/>
          </a:xfrm>
          <a:prstGeom prst="line">
            <a:avLst/>
          </a:prstGeom>
          <a:ln w="38100">
            <a:solidFill>
              <a:srgbClr val="3EC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194560" y="3977639"/>
            <a:ext cx="1280160" cy="594361"/>
          </a:xfrm>
          <a:prstGeom prst="line">
            <a:avLst/>
          </a:prstGeom>
          <a:ln w="38100">
            <a:solidFill>
              <a:srgbClr val="3EC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474720" y="3977639"/>
            <a:ext cx="1280160" cy="0"/>
          </a:xfrm>
          <a:prstGeom prst="line">
            <a:avLst/>
          </a:prstGeom>
          <a:ln w="38100">
            <a:solidFill>
              <a:srgbClr val="3EC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754880" y="3977639"/>
            <a:ext cx="1280160" cy="594361"/>
          </a:xfrm>
          <a:prstGeom prst="line">
            <a:avLst/>
          </a:prstGeom>
          <a:ln w="38100">
            <a:solidFill>
              <a:srgbClr val="3EC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35040" y="4572000"/>
            <a:ext cx="1280160" cy="0"/>
          </a:xfrm>
          <a:prstGeom prst="line">
            <a:avLst/>
          </a:prstGeom>
          <a:ln w="38100">
            <a:solidFill>
              <a:srgbClr val="3EC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315200" y="3977639"/>
            <a:ext cx="1280160" cy="594361"/>
          </a:xfrm>
          <a:prstGeom prst="line">
            <a:avLst/>
          </a:prstGeom>
          <a:ln w="38100">
            <a:solidFill>
              <a:srgbClr val="3EC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595360" y="3977639"/>
            <a:ext cx="1280160" cy="0"/>
          </a:xfrm>
          <a:prstGeom prst="line">
            <a:avLst/>
          </a:prstGeom>
          <a:ln w="38100">
            <a:solidFill>
              <a:srgbClr val="3EC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875520" y="3977639"/>
            <a:ext cx="1188720" cy="594361"/>
          </a:xfrm>
          <a:prstGeom prst="line">
            <a:avLst/>
          </a:prstGeom>
          <a:ln w="38100">
            <a:solidFill>
              <a:srgbClr val="3EC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" y="4251960"/>
            <a:ext cx="320040" cy="2743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FC341"/>
                </a:solidFill>
                <a:latin typeface="Aptos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3657600"/>
            <a:ext cx="320040" cy="2743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FC341"/>
                </a:solidFill>
                <a:latin typeface="Apto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4251960"/>
            <a:ext cx="320040" cy="2743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FC341"/>
                </a:solidFill>
                <a:latin typeface="Aptos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657600"/>
            <a:ext cx="320040" cy="2743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FC341"/>
                </a:solidFill>
                <a:latin typeface="Aptos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4251960"/>
            <a:ext cx="320040" cy="2743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FC341"/>
                </a:solidFill>
                <a:latin typeface="Aptos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486400"/>
            <a:ext cx="10789920" cy="5029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0">
                <a:solidFill>
                  <a:srgbClr val="B2C3D7"/>
                </a:solidFill>
                <a:latin typeface="Aptos"/>
              </a:rPr>
              <a:t>Digitálne obvody pracujú s logickými stavmi, nie priamo s číslami v programe.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500B4A4-B1F1-41EA-886A-B8A210DBC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55A99C-0BDC-4DBE-8E40-9FA66F629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1540"/>
            <a:ext cx="722376" cy="5071110"/>
          </a:xfrm>
          <a:prstGeom prst="rect">
            <a:avLst/>
          </a:prstGeom>
          <a:solidFill>
            <a:srgbClr val="4C52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Zástupný objekt pre obsah 4">
            <a:extLst>
              <a:ext uri="{FF2B5EF4-FFF2-40B4-BE49-F238E27FC236}">
                <a16:creationId xmlns:a16="http://schemas.microsoft.com/office/drawing/2014/main" id="{A1A39D54-3F41-A2E5-D14E-DB98C45020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9773" y="891540"/>
            <a:ext cx="7322903" cy="507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275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Obrázok 1"/>
          <p:cNvPicPr>
            <a:picLocks noChangeAspect="1"/>
          </p:cNvPicPr>
          <p:nvPr/>
        </p:nvPicPr>
        <p:blipFill>
          <a:blip r:embed="rId2"/>
          <a:srcRect b="7360"/>
          <a:stretch>
            <a:fillRect/>
          </a:stretch>
        </p:blipFill>
        <p:spPr>
          <a:xfrm>
            <a:off x="838200" y="704765"/>
            <a:ext cx="10628376" cy="544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318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B6C2C57-C1C8-E569-9613-8721E8E02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sk-SK" sz="4000" dirty="0">
                <a:solidFill>
                  <a:srgbClr val="FFFFFF"/>
                </a:solidFill>
              </a:rPr>
              <a:t>Matematika a logika v elektrickom </a:t>
            </a:r>
            <a:r>
              <a:rPr lang="sk-SK" sz="4000" dirty="0" err="1">
                <a:solidFill>
                  <a:srgbClr val="FFFFFF"/>
                </a:solidFill>
              </a:rPr>
              <a:t>dráte</a:t>
            </a:r>
            <a:endParaRPr lang="sk-SK" sz="4000" dirty="0">
              <a:solidFill>
                <a:srgbClr val="FFFFFF"/>
              </a:solidFill>
            </a:endParaRPr>
          </a:p>
        </p:txBody>
      </p:sp>
      <p:graphicFrame>
        <p:nvGraphicFramePr>
          <p:cNvPr id="12" name="Zástupný objekt pre obsah 2">
            <a:extLst>
              <a:ext uri="{FF2B5EF4-FFF2-40B4-BE49-F238E27FC236}">
                <a16:creationId xmlns:a16="http://schemas.microsoft.com/office/drawing/2014/main" id="{3D30DCB2-2EFF-B5E3-6BD5-A674B559A0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033235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7768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4A76D5B-252C-F06E-0DAC-606C92D90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sk-SK" sz="4000"/>
              <a:t>Digitálny signál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D718260-87F7-D1B9-A6A8-3957BF25A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anchor="ctr">
            <a:normAutofit lnSpcReduction="10000"/>
          </a:bodyPr>
          <a:lstStyle/>
          <a:p>
            <a:pPr algn="just">
              <a:lnSpc>
                <a:spcPct val="90000"/>
              </a:lnSpc>
              <a:buNone/>
            </a:pPr>
            <a:r>
              <a:rPr lang="sk-SK" sz="1400" b="1" i="0" dirty="0">
                <a:effectLst/>
                <a:latin typeface="inherit"/>
              </a:rPr>
              <a:t>Tvar digitálneho signálu</a:t>
            </a:r>
          </a:p>
          <a:p>
            <a:pPr algn="just">
              <a:lnSpc>
                <a:spcPct val="90000"/>
              </a:lnSpc>
              <a:buNone/>
            </a:pPr>
            <a:br>
              <a:rPr lang="sk-SK" sz="1400" b="0" i="0" dirty="0">
                <a:effectLst/>
                <a:latin typeface="Open Sans" panose="020B0606030504020204" pitchFamily="34" charset="0"/>
              </a:rPr>
            </a:br>
            <a:r>
              <a:rPr lang="sk-SK" sz="1400" b="0" i="0" dirty="0">
                <a:effectLst/>
                <a:latin typeface="Open Sans" panose="020B0606030504020204" pitchFamily="34" charset="0"/>
              </a:rPr>
              <a:t>Tvar digitálneho signálu pozostáva z úrovní napätia, ktoré sa medzi úrovňou HIGH a LOW. Ako je znázornené na obrázku 2, kladný impulz sa generuje, keď napätie prejde z LOW úrovne na HIGH úroveň. Záporný impulz sa vytvorí, keď napätie prejde z HIGH úrovne na LOW úroveň.</a:t>
            </a:r>
          </a:p>
          <a:p>
            <a:pPr>
              <a:lnSpc>
                <a:spcPct val="90000"/>
              </a:lnSpc>
              <a:buNone/>
            </a:pPr>
            <a:endParaRPr lang="sk-SK" sz="1400" b="0" i="0" dirty="0">
              <a:effectLst/>
              <a:latin typeface="Open Sans" panose="020B0606030504020204" pitchFamily="34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sk-SK" sz="1400" b="1" i="0" dirty="0">
                <a:effectLst/>
                <a:latin typeface="inherit"/>
              </a:rPr>
              <a:t>Binárne informácie</a:t>
            </a:r>
            <a:r>
              <a:rPr lang="sk-SK" sz="1400" b="0" i="0" dirty="0">
                <a:effectLst/>
                <a:latin typeface="Open Sans" panose="020B0606030504020204" pitchFamily="34" charset="0"/>
              </a:rPr>
              <a:t>, s ktorými pracujú digitálne systémy, sa prejavujú ako digitálne priebehy. </a:t>
            </a:r>
            <a:r>
              <a:rPr lang="sk-SK" sz="1400" b="1" i="0" dirty="0">
                <a:effectLst/>
                <a:latin typeface="inherit"/>
              </a:rPr>
              <a:t>Digitálny priebeh</a:t>
            </a:r>
            <a:r>
              <a:rPr lang="sk-SK" sz="1400" b="0" i="0" dirty="0">
                <a:effectLst/>
                <a:latin typeface="Open Sans" panose="020B0606030504020204" pitchFamily="34" charset="0"/>
              </a:rPr>
              <a:t> sa skladá zo série impulzov nazývaný ako postupnosť impulzov. Keď je tvar vlny HIGH, je prítomná binárna 1, keď je LOW, je prítomná binárna 0. Každý bit v sekvencii trvá definovaný časový interval. V digitálnych systémoch sú priebehy signálu synchronizované so základným časovým priebehom nazývaným </a:t>
            </a:r>
            <a:r>
              <a:rPr lang="sk-SK" sz="1400" b="1" i="0" dirty="0">
                <a:effectLst/>
                <a:latin typeface="inherit"/>
              </a:rPr>
              <a:t>taktovacie hodiny</a:t>
            </a:r>
            <a:r>
              <a:rPr lang="sk-SK" sz="1400" b="0" i="0" dirty="0">
                <a:effectLst/>
                <a:latin typeface="Open Sans" panose="020B0606030504020204" pitchFamily="34" charset="0"/>
              </a:rPr>
              <a:t> (Obr. 3).</a:t>
            </a:r>
          </a:p>
        </p:txBody>
      </p:sp>
      <p:pic>
        <p:nvPicPr>
          <p:cNvPr id="7" name="Obrázok 6">
            <a:extLst>
              <a:ext uri="{FF2B5EF4-FFF2-40B4-BE49-F238E27FC236}">
                <a16:creationId xmlns:a16="http://schemas.microsoft.com/office/drawing/2014/main" id="{3E18E5C5-6655-BA09-4B7B-4A000A2E8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4437" y="774285"/>
            <a:ext cx="4353580" cy="2581173"/>
          </a:xfrm>
          <a:prstGeom prst="rect">
            <a:avLst/>
          </a:prstGeom>
        </p:spPr>
      </p:pic>
      <p:pic>
        <p:nvPicPr>
          <p:cNvPr id="8" name="Obrázok 7">
            <a:extLst>
              <a:ext uri="{FF2B5EF4-FFF2-40B4-BE49-F238E27FC236}">
                <a16:creationId xmlns:a16="http://schemas.microsoft.com/office/drawing/2014/main" id="{5B011837-978B-ABC6-8E35-05F5418B4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637" y="3575074"/>
            <a:ext cx="4375179" cy="258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55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0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7A43647-B142-7284-115B-09970A4E8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sk-SK" sz="3200" dirty="0"/>
              <a:t>SYNCHRONIZÁCIA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D11280B-2E39-4E79-7F40-2DEC79945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sk-SK" sz="1200" b="1" i="0" dirty="0">
                <a:effectLst/>
                <a:latin typeface="inherit"/>
              </a:rPr>
              <a:t>Hodinový signál</a:t>
            </a:r>
          </a:p>
          <a:p>
            <a:pPr algn="just">
              <a:lnSpc>
                <a:spcPct val="90000"/>
              </a:lnSpc>
              <a:buNone/>
            </a:pPr>
            <a:endParaRPr lang="sk-SK" sz="1200" b="1" dirty="0">
              <a:latin typeface="inherit"/>
            </a:endParaRPr>
          </a:p>
          <a:p>
            <a:pPr marL="0" algn="just">
              <a:lnSpc>
                <a:spcPct val="90000"/>
              </a:lnSpc>
              <a:buNone/>
            </a:pPr>
            <a:r>
              <a:rPr lang="sk-SK" sz="1400" b="0" i="0" dirty="0">
                <a:effectLst/>
                <a:latin typeface="Open Sans" panose="020B0606030504020204" pitchFamily="34" charset="0"/>
              </a:rPr>
              <a:t>je periodická postupnosť impulzov, ktorých perióda je rovná trvaniu jedného bitu. Binárne dáta sú indikované svojou úrovňou v postupnosti priebehu. Počas každej periódy hodinového signálu je priebeh binárnych dát buď HIGH alebo LOW, pričom úrovne HIGH a LOW predstavujú sekvenciu binárnych číslic (bitov). </a:t>
            </a:r>
            <a:r>
              <a:rPr lang="sk-SK" sz="1400" b="1" i="0" dirty="0">
                <a:effectLst/>
                <a:latin typeface="inherit"/>
              </a:rPr>
              <a:t>Binárne dáta sú reprezentované skupinou niekoľkých bitov.</a:t>
            </a:r>
            <a:endParaRPr lang="sk-SK" sz="1400" b="0" i="0" dirty="0">
              <a:effectLst/>
              <a:latin typeface="Open Sans" panose="020B0606030504020204" pitchFamily="34" charset="0"/>
            </a:endParaRPr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FC273F4D-6DCB-4495-6E21-8FCD762E9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43" y="2328298"/>
            <a:ext cx="10917936" cy="3521032"/>
          </a:xfrm>
          <a:prstGeom prst="rect">
            <a:avLst/>
          </a:prstGeom>
        </p:spPr>
      </p:pic>
      <p:sp>
        <p:nvSpPr>
          <p:cNvPr id="7" name="BlokTextu 6">
            <a:extLst>
              <a:ext uri="{FF2B5EF4-FFF2-40B4-BE49-F238E27FC236}">
                <a16:creationId xmlns:a16="http://schemas.microsoft.com/office/drawing/2014/main" id="{7F7E4E41-24EC-34FF-9D51-A20F0304A043}"/>
              </a:ext>
            </a:extLst>
          </p:cNvPr>
          <p:cNvSpPr txBox="1"/>
          <p:nvPr/>
        </p:nvSpPr>
        <p:spPr>
          <a:xfrm>
            <a:off x="3257550" y="6022343"/>
            <a:ext cx="61123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b="1" dirty="0">
                <a:latin typeface="inherit"/>
              </a:rPr>
              <a:t>Obr. 3 Synchronizovanie binárnych dát s hodinovým impulzom</a:t>
            </a:r>
            <a:endParaRPr lang="sk-SK" dirty="0">
              <a:latin typeface="Open Sans" panose="020B0606030504020204" pitchFamily="34" charset="0"/>
            </a:endParaRP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759240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B4612A7-F66C-66E9-B9DB-47A946A54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sk-SK" sz="4800" dirty="0"/>
              <a:t>Parametre digitálneho impulzu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D7A51B0-1283-4E67-7FBE-8213C1376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126" y="2362200"/>
            <a:ext cx="5705812" cy="4029075"/>
          </a:xfrm>
        </p:spPr>
        <p:txBody>
          <a:bodyPr anchor="ctr">
            <a:normAutofit fontScale="92500" lnSpcReduction="10000"/>
          </a:bodyPr>
          <a:lstStyle/>
          <a:p>
            <a:pPr algn="just"/>
            <a:r>
              <a:rPr lang="sk-SK" sz="1400" b="1" dirty="0" err="1"/>
              <a:t>Rise</a:t>
            </a:r>
            <a:r>
              <a:rPr lang="sk-SK" sz="1400" b="1" dirty="0"/>
              <a:t> </a:t>
            </a:r>
            <a:r>
              <a:rPr lang="sk-SK" sz="1400" b="1" dirty="0" err="1"/>
              <a:t>time</a:t>
            </a:r>
            <a:r>
              <a:rPr lang="sk-SK" sz="1400" b="1" dirty="0"/>
              <a:t> </a:t>
            </a:r>
            <a:r>
              <a:rPr lang="sk-SK" sz="1400" dirty="0"/>
              <a:t>- čas vzostupu (nábehu) je čas potrebný na to, aby impulz prešiel z LOW úrovne na HIGH úroveň. V praxi je bežné merať čas nábehu od 10 % amplitúdy impulzu do 90 % amplitúdy impulzu.</a:t>
            </a:r>
          </a:p>
          <a:p>
            <a:pPr algn="just"/>
            <a:r>
              <a:rPr lang="sk-SK" sz="1400" b="1" dirty="0" err="1"/>
              <a:t>Fall</a:t>
            </a:r>
            <a:r>
              <a:rPr lang="sk-SK" sz="1400" b="1" dirty="0"/>
              <a:t> </a:t>
            </a:r>
            <a:r>
              <a:rPr lang="sk-SK" sz="1400" b="1" dirty="0" err="1"/>
              <a:t>time</a:t>
            </a:r>
            <a:r>
              <a:rPr lang="sk-SK" sz="1400" b="1" dirty="0"/>
              <a:t> </a:t>
            </a:r>
            <a:r>
              <a:rPr lang="sk-SK" sz="1400" dirty="0"/>
              <a:t>- čas zostupu (pokles) je čas potrebný na to, aby impulz prešiel z HIGH úrovne na LOW úroveň. V praxi je bežné merať čas poklesu od 90 % amplitúdy impulzu do 10 % amplitúdy impulzu. Možno poznamenať, že spodných 10 % a horných 10 % z amplitúdy impulzu nie sú zahrnuté v časoch nábehu a poklesu z dôvodu </a:t>
            </a:r>
            <a:r>
              <a:rPr lang="sk-SK" sz="1400" dirty="0" err="1"/>
              <a:t>nelinearít</a:t>
            </a:r>
            <a:r>
              <a:rPr lang="sk-SK" sz="1400" dirty="0"/>
              <a:t> v tvare vlny signálu v týchto oblastiach.</a:t>
            </a:r>
          </a:p>
          <a:p>
            <a:pPr algn="just"/>
            <a:r>
              <a:rPr lang="sk-SK" sz="1400" b="1" dirty="0" err="1"/>
              <a:t>Pulse</a:t>
            </a:r>
            <a:r>
              <a:rPr lang="sk-SK" sz="1400" b="1" dirty="0"/>
              <a:t> </a:t>
            </a:r>
            <a:r>
              <a:rPr lang="sk-SK" sz="1400" b="1" dirty="0" err="1"/>
              <a:t>width</a:t>
            </a:r>
            <a:r>
              <a:rPr lang="sk-SK" sz="1400" b="1" dirty="0"/>
              <a:t> </a:t>
            </a:r>
            <a:r>
              <a:rPr lang="sk-SK" sz="1400" dirty="0"/>
              <a:t>– šírka impulzu je mierou trvania impulzu a často sa definuje ako časový interval medzi 50 % bodmi na vzostupnej a zostupnej hrane.</a:t>
            </a:r>
          </a:p>
          <a:p>
            <a:pPr algn="just"/>
            <a:r>
              <a:rPr lang="sk-SK" sz="1400" b="1" dirty="0" err="1"/>
              <a:t>Overshoot</a:t>
            </a:r>
            <a:r>
              <a:rPr lang="sk-SK" sz="1400" dirty="0"/>
              <a:t> – </a:t>
            </a:r>
            <a:r>
              <a:rPr lang="sk-SK" sz="1400" dirty="0" err="1"/>
              <a:t>prekmit</a:t>
            </a:r>
            <a:r>
              <a:rPr lang="sk-SK" sz="1400" dirty="0"/>
              <a:t> je nežiadúca vlastnosť číslicového impulzu. Prekročenie napäťovej úrovne môže byť pozitívne aj negatívne. </a:t>
            </a:r>
            <a:r>
              <a:rPr lang="sk-SK" sz="1400" dirty="0" err="1"/>
              <a:t>Prekmit</a:t>
            </a:r>
            <a:r>
              <a:rPr lang="sk-SK" sz="1400" dirty="0"/>
              <a:t> je spôsobený kapacitným efektom v obvode alebo meracom prístroji, ktorý vedie k tomu, že napätie na nábežnej a zostupnej hrane krátkodobo prekročí normálnu úroveň HIGH alebo LOW.</a:t>
            </a:r>
          </a:p>
          <a:p>
            <a:pPr algn="just"/>
            <a:r>
              <a:rPr lang="sk-SK" sz="1400" b="1" dirty="0" err="1"/>
              <a:t>Ringing</a:t>
            </a:r>
            <a:r>
              <a:rPr lang="sk-SK" sz="1400" b="1" dirty="0"/>
              <a:t> </a:t>
            </a:r>
            <a:r>
              <a:rPr lang="sk-SK" sz="1400" dirty="0"/>
              <a:t>– zvlnenie je nežiadúca vlastnosť číslicového impulzu. Prekročenie napäťovej úrovne v oboch prípadoch môže byť pozitívne aj negatívne. Zvlnenie na vzostupnej a zostupnej hrane impulzu je vlastne oscilácia spôsobená kapacitou a indukčnosťou v obvode a po krátkom čase odznie.</a:t>
            </a:r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361451CD-A581-A8F3-A012-F693ADDD1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938" y="3428682"/>
            <a:ext cx="5150277" cy="261376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A7030CEC-B549-D3DA-4E0A-395DDB0AF54B}"/>
              </a:ext>
            </a:extLst>
          </p:cNvPr>
          <p:cNvSpPr txBox="1"/>
          <p:nvPr/>
        </p:nvSpPr>
        <p:spPr>
          <a:xfrm>
            <a:off x="6534812" y="2365653"/>
            <a:ext cx="4257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b="1" dirty="0"/>
              <a:t>Digitálny impulz má nasledujúcich päť dôležitých charakteristík: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761207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CEE1333-73F1-CFAC-2A3D-DEE1B921E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sk-SK" sz="3200"/>
              <a:t>Časový diagram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D53B4BE-22B0-9A69-B0E7-0B679E9D4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9328" y="586822"/>
            <a:ext cx="6417158" cy="1645920"/>
          </a:xfrm>
        </p:spPr>
        <p:txBody>
          <a:bodyPr anchor="ctr">
            <a:normAutofit fontScale="77500" lnSpcReduction="20000"/>
          </a:bodyPr>
          <a:lstStyle/>
          <a:p>
            <a:pPr marL="0" indent="0" algn="just">
              <a:lnSpc>
                <a:spcPct val="90000"/>
              </a:lnSpc>
              <a:buNone/>
            </a:pPr>
            <a:r>
              <a:rPr lang="sk-SK" sz="1600" dirty="0"/>
              <a:t>Časový diagram je graf digitálnych priebehov, ktorý ukazuje časový vzťah všetkých priebehov a ako sa každý priebeh mení vo vzťahu k ostatným. Na Obr. 5 je príklad jednoduchého časového diagramu, ktorý ukazuje, ako súvisia hodinový priebeh a tvar signálu X, Y, Z. Časový diagram môže pozostávať z ľubovoľného počtu súvisiacich priebehov. Časový diagram zobrazuje stavy (HIGH a LOW) všetkých priebehov v akomkoľvek časovom bode a presný čas, kedy sa zmenil stav vzhľadom na ostatné priebehy.</a:t>
            </a:r>
          </a:p>
          <a:p>
            <a:pPr marL="0" indent="0" algn="just">
              <a:lnSpc>
                <a:spcPct val="90000"/>
              </a:lnSpc>
              <a:buNone/>
            </a:pPr>
            <a:endParaRPr lang="sk-SK" sz="1600" dirty="0"/>
          </a:p>
          <a:p>
            <a:pPr marL="0" indent="0" algn="just">
              <a:lnSpc>
                <a:spcPct val="90000"/>
              </a:lnSpc>
              <a:buNone/>
            </a:pPr>
            <a:r>
              <a:rPr lang="sk-SK" sz="1600" dirty="0"/>
              <a:t>Na časovom diagrame môžeme vidieť, že všetky tri priebehy X, Y, Z sú na úrovni HIGH iba počas 7. hodinového taktu a všetky sa zmenia späť na LOW na konci 7. hodinového taktu.</a:t>
            </a:r>
          </a:p>
          <a:p>
            <a:pPr marL="0" indent="0" algn="just">
              <a:lnSpc>
                <a:spcPct val="90000"/>
              </a:lnSpc>
              <a:buNone/>
            </a:pPr>
            <a:endParaRPr lang="sk-SK" sz="1600" dirty="0"/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D0323F67-4708-4BE2-C1DC-A987D632C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259" y="2454442"/>
            <a:ext cx="7917873" cy="3483864"/>
          </a:xfrm>
          <a:prstGeom prst="rect">
            <a:avLst/>
          </a:prstGeom>
        </p:spPr>
      </p:pic>
      <p:sp>
        <p:nvSpPr>
          <p:cNvPr id="5" name="BlokTextu 4">
            <a:extLst>
              <a:ext uri="{FF2B5EF4-FFF2-40B4-BE49-F238E27FC236}">
                <a16:creationId xmlns:a16="http://schemas.microsoft.com/office/drawing/2014/main" id="{0B265DE7-0B8A-C4CB-891C-D2AE86B98EF2}"/>
              </a:ext>
            </a:extLst>
          </p:cNvPr>
          <p:cNvSpPr txBox="1"/>
          <p:nvPr/>
        </p:nvSpPr>
        <p:spPr>
          <a:xfrm flipH="1">
            <a:off x="4223614" y="6012418"/>
            <a:ext cx="382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b="1" dirty="0"/>
              <a:t>Obr. 5 Príklad časového diagramu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10109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D707C0E-38DC-FB1E-69AB-804C29FA1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sk-SK" sz="3700" dirty="0">
                <a:solidFill>
                  <a:srgbClr val="FFFFFF"/>
                </a:solidFill>
              </a:rPr>
              <a:t>Charakteristika digitálnych obvodov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506B8F0-48C9-1B85-FC9E-573B0AF0F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 algn="just">
              <a:lnSpc>
                <a:spcPct val="90000"/>
              </a:lnSpc>
              <a:buNone/>
            </a:pPr>
            <a:r>
              <a:rPr lang="sk-SK" sz="2200" b="1" dirty="0"/>
              <a:t>Digitálny obvod </a:t>
            </a:r>
            <a:r>
              <a:rPr lang="sk-SK" sz="2200" dirty="0"/>
              <a:t>je obvod, ktorý pracuje s digitálnymi signálmi na vstupe, spracováva ich a nastavuje výstupné digitálne signály. Keďže digitálny signál je signál, v ktorom sa na reprezentáciu informácií používajú diskrétne úrovne (stavy), digitálne obvody majú jednu úroveň signálu, keď sú zapnuté, a inú úroveň signálu, keď sú vypnuté.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sk-SK" sz="2200" dirty="0"/>
              <a:t>Vo všeobecnosti je </a:t>
            </a:r>
            <a:r>
              <a:rPr lang="sk-SK" sz="2200" b="1" dirty="0"/>
              <a:t>komponent </a:t>
            </a:r>
            <a:r>
              <a:rPr lang="sk-SK" sz="2200" dirty="0"/>
              <a:t>v digitálnych obvodoch iba </a:t>
            </a:r>
            <a:r>
              <a:rPr lang="sk-SK" sz="2200" b="1" dirty="0"/>
              <a:t>zapnutý alebo vypnutý</a:t>
            </a:r>
            <a:r>
              <a:rPr lang="sk-SK" sz="2200" dirty="0"/>
              <a:t>. Napríklad tranzistory v digitálnych obvodoch pracujú buď v saturačnej oblasti alebo v medznej oblasti. Zatiaľ čo tranzistory v analógových obvodoch pracujú v aktívnej oblasti, ich výstupy sú citlivé na niekoľko faktorov, ako je teplota, napájacie napätie a starnutie komponentov. 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sk-SK" sz="2200" dirty="0"/>
              <a:t>Preto výhodou digitálnych obvodov v porovnaní s analógovými obvodmi je, že signály reprezentované digitálne môžu byť prenášané </a:t>
            </a:r>
            <a:r>
              <a:rPr lang="sk-SK" sz="2200" b="1" dirty="0"/>
              <a:t>bez degradácie v dôsledku šumu.</a:t>
            </a:r>
          </a:p>
        </p:txBody>
      </p:sp>
    </p:spTree>
    <p:extLst>
      <p:ext uri="{BB962C8B-B14F-4D97-AF65-F5344CB8AC3E}">
        <p14:creationId xmlns:p14="http://schemas.microsoft.com/office/powerpoint/2010/main" val="927927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80669AB-ADF2-DB15-E4A1-1CD2DB239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sk-SK" sz="3600"/>
              <a:t>Základné parametre digitálnych obvodov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86F635D-39B2-FB2D-2481-7175DA7EA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5" y="2031101"/>
            <a:ext cx="4785717" cy="3511943"/>
          </a:xfrm>
        </p:spPr>
        <p:txBody>
          <a:bodyPr anchor="ctr">
            <a:normAutofit fontScale="62500" lnSpcReduction="20000"/>
          </a:bodyPr>
          <a:lstStyle/>
          <a:p>
            <a:pPr marL="0" indent="0" algn="just">
              <a:buNone/>
            </a:pPr>
            <a:r>
              <a:rPr lang="sk-SK" b="1" dirty="0"/>
              <a:t>Logická úroveň </a:t>
            </a:r>
            <a:r>
              <a:rPr lang="sk-SK" dirty="0"/>
              <a:t>v číslicovej elektronike je reprezentácia logickej hodnoty určitým stavom elektrického obvodu, napr. hodnotou elektrického napätia.</a:t>
            </a:r>
          </a:p>
          <a:p>
            <a:pPr marL="0" indent="0" algn="just">
              <a:buNone/>
            </a:pPr>
            <a:r>
              <a:rPr lang="sk-SK" dirty="0"/>
              <a:t>Rozlišujeme </a:t>
            </a:r>
            <a:r>
              <a:rPr lang="sk-SK" b="1" dirty="0"/>
              <a:t>dve úrovne</a:t>
            </a:r>
            <a:r>
              <a:rPr lang="sk-SK" dirty="0"/>
              <a:t>, vysokú úroveň </a:t>
            </a:r>
            <a:r>
              <a:rPr lang="sk-SK" b="1" dirty="0"/>
              <a:t>HIGH</a:t>
            </a:r>
            <a:r>
              <a:rPr lang="sk-SK" dirty="0"/>
              <a:t> a nízku úroveň </a:t>
            </a:r>
            <a:r>
              <a:rPr lang="sk-SK" b="1" dirty="0"/>
              <a:t>LOW</a:t>
            </a:r>
            <a:r>
              <a:rPr lang="sk-SK" dirty="0"/>
              <a:t>. </a:t>
            </a:r>
          </a:p>
          <a:p>
            <a:pPr marL="0" indent="0" algn="just">
              <a:buNone/>
            </a:pPr>
            <a:endParaRPr lang="sk-SK" dirty="0"/>
          </a:p>
          <a:p>
            <a:pPr marL="0" indent="0" algn="just">
              <a:buNone/>
            </a:pPr>
            <a:r>
              <a:rPr lang="sk-SK" dirty="0" err="1"/>
              <a:t>resné</a:t>
            </a:r>
            <a:r>
              <a:rPr lang="sk-SK" dirty="0"/>
              <a:t> hodnoty napätí jednotlivých úrovni sa líšia podľa typu použitých logických obvodov (Tab. 1). LOW úroveň predstavuje </a:t>
            </a:r>
            <a:r>
              <a:rPr lang="sk-SK" b="1" dirty="0"/>
              <a:t>logickú 0</a:t>
            </a:r>
            <a:r>
              <a:rPr lang="sk-SK" dirty="0"/>
              <a:t> a HIGH predstavuje </a:t>
            </a:r>
            <a:r>
              <a:rPr lang="sk-SK" b="1" dirty="0"/>
              <a:t>logickú 1</a:t>
            </a:r>
            <a:r>
              <a:rPr lang="sk-SK" dirty="0"/>
              <a:t>.</a:t>
            </a:r>
            <a:endParaRPr lang="sk-SK" sz="18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CFF7946D-AC9A-2322-1854-BB706B491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738" y="360020"/>
            <a:ext cx="5628018" cy="2799939"/>
          </a:xfrm>
          <a:prstGeom prst="rect">
            <a:avLst/>
          </a:prstGeom>
        </p:spPr>
      </p:pic>
      <p:sp>
        <p:nvSpPr>
          <p:cNvPr id="5" name="BlokTextu 4">
            <a:extLst>
              <a:ext uri="{FF2B5EF4-FFF2-40B4-BE49-F238E27FC236}">
                <a16:creationId xmlns:a16="http://schemas.microsoft.com/office/drawing/2014/main" id="{4FDEE3DA-23A3-44C7-A23A-FBCD2DD5D70B}"/>
              </a:ext>
            </a:extLst>
          </p:cNvPr>
          <p:cNvSpPr txBox="1"/>
          <p:nvPr/>
        </p:nvSpPr>
        <p:spPr>
          <a:xfrm>
            <a:off x="7091984" y="0"/>
            <a:ext cx="3419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>
                <a:solidFill>
                  <a:srgbClr val="FF0000"/>
                </a:solidFill>
              </a:rPr>
              <a:t>Predmet CIT – zviazanie poznatkov</a:t>
            </a:r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E4E0CD22-8B61-EE19-87B8-9880AC35A2CC}"/>
              </a:ext>
            </a:extLst>
          </p:cNvPr>
          <p:cNvSpPr txBox="1"/>
          <p:nvPr/>
        </p:nvSpPr>
        <p:spPr>
          <a:xfrm>
            <a:off x="5795414" y="3198252"/>
            <a:ext cx="5987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b="1" dirty="0"/>
              <a:t>Obr. 6 Časový priebeh reálneho elektrického signálu (hore) </a:t>
            </a:r>
            <a:endParaRPr lang="sk-SK" dirty="0"/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9DC6E735-105B-6E6A-2629-714A3077F1BC}"/>
              </a:ext>
            </a:extLst>
          </p:cNvPr>
          <p:cNvSpPr txBox="1"/>
          <p:nvPr/>
        </p:nvSpPr>
        <p:spPr>
          <a:xfrm>
            <a:off x="5696793" y="3682078"/>
            <a:ext cx="618497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k-SK" dirty="0"/>
              <a:t>Na vstupoch logického obvodu hodnota V</a:t>
            </a:r>
            <a:r>
              <a:rPr lang="sk-SK" baseline="-25000" dirty="0"/>
              <a:t>L</a:t>
            </a:r>
            <a:r>
              <a:rPr lang="sk-SK" dirty="0"/>
              <a:t> definuje </a:t>
            </a:r>
            <a:r>
              <a:rPr lang="sk-SK" b="1" dirty="0"/>
              <a:t>maximálne napätie reprezentujúce LOW úroveň</a:t>
            </a:r>
            <a:r>
              <a:rPr lang="sk-SK" dirty="0"/>
              <a:t>, hodnota V</a:t>
            </a:r>
            <a:r>
              <a:rPr lang="sk-SK" baseline="-25000" dirty="0"/>
              <a:t>H</a:t>
            </a:r>
            <a:r>
              <a:rPr lang="sk-SK" dirty="0"/>
              <a:t> definuje </a:t>
            </a:r>
            <a:r>
              <a:rPr lang="sk-SK" b="1" dirty="0"/>
              <a:t>minimálne napätie reprezentujúce HIGH úroveň</a:t>
            </a:r>
            <a:r>
              <a:rPr lang="sk-SK" dirty="0"/>
              <a:t>. Medzi hodnotami V</a:t>
            </a:r>
            <a:r>
              <a:rPr lang="sk-SK" baseline="-25000" dirty="0"/>
              <a:t>L</a:t>
            </a:r>
            <a:r>
              <a:rPr lang="sk-SK" dirty="0"/>
              <a:t> a V</a:t>
            </a:r>
            <a:r>
              <a:rPr lang="sk-SK" baseline="-25000" dirty="0"/>
              <a:t>H</a:t>
            </a:r>
            <a:r>
              <a:rPr lang="sk-SK" dirty="0"/>
              <a:t> leží zakázané pásmo, v ktorom logická hodnota nie je jednoznačne určená (Obr. 7).</a:t>
            </a:r>
          </a:p>
          <a:p>
            <a:pPr algn="just"/>
            <a:endParaRPr lang="sk-SK" dirty="0"/>
          </a:p>
          <a:p>
            <a:pPr algn="just"/>
            <a:r>
              <a:rPr lang="sk-SK" dirty="0"/>
              <a:t>Prechod medzi dvoma logickými úrovňami musí prebehnúť </a:t>
            </a:r>
            <a:r>
              <a:rPr lang="sk-SK" b="1" dirty="0"/>
              <a:t>rýchlo</a:t>
            </a:r>
            <a:r>
              <a:rPr lang="sk-SK" dirty="0"/>
              <a:t>, pretože prechádza </a:t>
            </a:r>
            <a:r>
              <a:rPr lang="sk-SK" b="1" dirty="0"/>
              <a:t>zakázaným pásmom</a:t>
            </a:r>
            <a:r>
              <a:rPr lang="sk-SK" dirty="0"/>
              <a:t>. Strmosť nárastu tohto prechodu sa označuje ako hrana signálu.</a:t>
            </a:r>
          </a:p>
        </p:txBody>
      </p:sp>
    </p:spTree>
    <p:extLst>
      <p:ext uri="{BB962C8B-B14F-4D97-AF65-F5344CB8AC3E}">
        <p14:creationId xmlns:p14="http://schemas.microsoft.com/office/powerpoint/2010/main" val="834974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5B89898-4263-7464-CFBF-66A35A76C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0994"/>
            <a:ext cx="3687491" cy="2056896"/>
          </a:xfrm>
        </p:spPr>
        <p:txBody>
          <a:bodyPr anchor="t">
            <a:normAutofit/>
          </a:bodyPr>
          <a:lstStyle/>
          <a:p>
            <a:r>
              <a:rPr lang="sk-SK" sz="3000"/>
              <a:t>Tab. 1 Hodnoty napäťových úrovni niektorých technológií číslicových obvodov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CADA092-4CA9-F516-3291-202E79A1D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1546" y="751555"/>
            <a:ext cx="5946040" cy="2106334"/>
          </a:xfrm>
        </p:spPr>
        <p:txBody>
          <a:bodyPr anchor="t">
            <a:normAutofit/>
          </a:bodyPr>
          <a:lstStyle/>
          <a:p>
            <a:pPr algn="just">
              <a:lnSpc>
                <a:spcPct val="90000"/>
              </a:lnSpc>
              <a:buNone/>
            </a:pPr>
            <a:r>
              <a:rPr lang="sk-SK" sz="1700" b="0" i="0" dirty="0">
                <a:effectLst/>
                <a:latin typeface="+mj-lt"/>
              </a:rPr>
              <a:t>Na </a:t>
            </a:r>
            <a:r>
              <a:rPr lang="sk-SK" sz="1700" b="1" i="0" dirty="0">
                <a:effectLst/>
                <a:latin typeface="+mj-lt"/>
              </a:rPr>
              <a:t>výstupoch logického obvodu</a:t>
            </a:r>
            <a:r>
              <a:rPr lang="sk-SK" sz="1700" b="0" i="0" dirty="0">
                <a:effectLst/>
                <a:latin typeface="+mj-lt"/>
              </a:rPr>
              <a:t> je zaručená vysoká úroveň HIGH napätím minimálne V</a:t>
            </a:r>
            <a:r>
              <a:rPr lang="sk-SK" sz="1700" b="0" i="0" baseline="-25000" dirty="0">
                <a:effectLst/>
                <a:latin typeface="+mj-lt"/>
              </a:rPr>
              <a:t>OH</a:t>
            </a:r>
            <a:r>
              <a:rPr lang="sk-SK" sz="1700" b="0" i="0" dirty="0">
                <a:effectLst/>
                <a:latin typeface="+mj-lt"/>
              </a:rPr>
              <a:t> a na</a:t>
            </a:r>
            <a:r>
              <a:rPr lang="sk-SK" sz="1700" b="1" i="0" dirty="0">
                <a:effectLst/>
                <a:latin typeface="+mj-lt"/>
              </a:rPr>
              <a:t> vstupoch</a:t>
            </a:r>
            <a:r>
              <a:rPr lang="sk-SK" sz="1700" b="0" i="0" dirty="0">
                <a:effectLst/>
                <a:latin typeface="+mj-lt"/>
              </a:rPr>
              <a:t> je to minimálne napätie V</a:t>
            </a:r>
            <a:r>
              <a:rPr lang="sk-SK" sz="1700" b="0" i="0" baseline="-25000" dirty="0">
                <a:effectLst/>
                <a:latin typeface="+mj-lt"/>
              </a:rPr>
              <a:t>IH</a:t>
            </a:r>
            <a:r>
              <a:rPr lang="sk-SK" sz="1700" b="0" i="0" dirty="0">
                <a:effectLst/>
                <a:latin typeface="+mj-lt"/>
              </a:rPr>
              <a:t>. </a:t>
            </a:r>
          </a:p>
          <a:p>
            <a:pPr algn="just">
              <a:lnSpc>
                <a:spcPct val="90000"/>
              </a:lnSpc>
              <a:buNone/>
            </a:pPr>
            <a:r>
              <a:rPr lang="sk-SK" sz="1700" b="0" i="0" dirty="0">
                <a:effectLst/>
                <a:latin typeface="+mj-lt"/>
              </a:rPr>
              <a:t>Výstupné napätie V</a:t>
            </a:r>
            <a:r>
              <a:rPr lang="sk-SK" sz="1700" b="0" i="0" baseline="-25000" dirty="0">
                <a:effectLst/>
                <a:latin typeface="+mj-lt"/>
              </a:rPr>
              <a:t>OH</a:t>
            </a:r>
            <a:r>
              <a:rPr lang="sk-SK" sz="1700" b="0" i="0" dirty="0">
                <a:effectLst/>
                <a:latin typeface="+mj-lt"/>
              </a:rPr>
              <a:t> je vždy väčšie ako vstupné napätie V</a:t>
            </a:r>
            <a:r>
              <a:rPr lang="sk-SK" sz="1700" b="0" i="0" baseline="-25000" dirty="0">
                <a:effectLst/>
                <a:latin typeface="+mj-lt"/>
              </a:rPr>
              <a:t>IH</a:t>
            </a:r>
            <a:r>
              <a:rPr lang="sk-SK" sz="1700" b="0" i="0" dirty="0">
                <a:effectLst/>
                <a:latin typeface="+mj-lt"/>
              </a:rPr>
              <a:t>, rozdiel V</a:t>
            </a:r>
            <a:r>
              <a:rPr lang="sk-SK" sz="1700" b="0" i="0" baseline="-25000" dirty="0">
                <a:effectLst/>
                <a:latin typeface="+mj-lt"/>
              </a:rPr>
              <a:t>OH</a:t>
            </a:r>
            <a:r>
              <a:rPr lang="sk-SK" sz="1700" b="0" i="0" dirty="0">
                <a:effectLst/>
                <a:latin typeface="+mj-lt"/>
              </a:rPr>
              <a:t> - V</a:t>
            </a:r>
            <a:r>
              <a:rPr lang="sk-SK" sz="1700" b="0" i="0" baseline="-25000" dirty="0">
                <a:effectLst/>
                <a:latin typeface="+mj-lt"/>
              </a:rPr>
              <a:t>IH</a:t>
            </a:r>
            <a:r>
              <a:rPr lang="sk-SK" sz="1700" b="0" i="0" dirty="0">
                <a:effectLst/>
                <a:latin typeface="+mj-lt"/>
              </a:rPr>
              <a:t> </a:t>
            </a:r>
            <a:r>
              <a:rPr lang="sk-SK" sz="1700" b="0" i="1" dirty="0">
                <a:effectLst/>
                <a:latin typeface="+mj-lt"/>
              </a:rPr>
              <a:t>zabezpečuje prevádzkovú odolnosť obvodov voči rušeniu. </a:t>
            </a:r>
            <a:endParaRPr lang="sk-SK" sz="1700" b="0" i="0" dirty="0">
              <a:effectLst/>
              <a:latin typeface="+mj-lt"/>
            </a:endParaRPr>
          </a:p>
          <a:p>
            <a:pPr algn="just">
              <a:lnSpc>
                <a:spcPct val="90000"/>
              </a:lnSpc>
              <a:buNone/>
            </a:pPr>
            <a:r>
              <a:rPr lang="sk-SK" sz="1700" b="0" i="0" dirty="0">
                <a:effectLst/>
                <a:latin typeface="+mj-lt"/>
              </a:rPr>
              <a:t>Podobne pre nízku úroveň L rozdiel napätí V</a:t>
            </a:r>
            <a:r>
              <a:rPr lang="sk-SK" sz="1700" b="0" i="0" baseline="-25000" dirty="0">
                <a:effectLst/>
                <a:latin typeface="+mj-lt"/>
              </a:rPr>
              <a:t>IL</a:t>
            </a:r>
            <a:r>
              <a:rPr lang="sk-SK" sz="1700" b="0" i="0" dirty="0">
                <a:effectLst/>
                <a:latin typeface="+mj-lt"/>
              </a:rPr>
              <a:t> – V</a:t>
            </a:r>
            <a:r>
              <a:rPr lang="sk-SK" sz="1700" b="0" i="0" baseline="-25000" dirty="0">
                <a:effectLst/>
                <a:latin typeface="+mj-lt"/>
              </a:rPr>
              <a:t>OL</a:t>
            </a:r>
            <a:r>
              <a:rPr lang="sk-SK" sz="1700" b="0" i="0" dirty="0">
                <a:effectLst/>
                <a:latin typeface="+mj-lt"/>
              </a:rPr>
              <a:t> </a:t>
            </a:r>
            <a:r>
              <a:rPr lang="sk-SK" sz="1700" b="0" i="1" dirty="0">
                <a:effectLst/>
                <a:latin typeface="+mj-lt"/>
              </a:rPr>
              <a:t>zabezpečuje odolnosť voči rušeniu. </a:t>
            </a:r>
            <a:endParaRPr lang="sk-SK" sz="1700" b="0" i="0" dirty="0">
              <a:effectLst/>
              <a:latin typeface="+mj-lt"/>
            </a:endParaRPr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6E4129E7-9F06-45CB-0508-285F61A64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202" y="3013703"/>
            <a:ext cx="9681592" cy="3267536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E4A41B9E-A0C8-F78B-E5B6-A0D02D881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27C9029-9BF9-D125-90D6-AB03931B0B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CF84619-412D-A0C9-3DC9-47C3A42B9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60021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1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Nadpis 1">
            <a:extLst>
              <a:ext uri="{FF2B5EF4-FFF2-40B4-BE49-F238E27FC236}">
                <a16:creationId xmlns:a16="http://schemas.microsoft.com/office/drawing/2014/main" id="{0B1CA459-09F6-1377-3CA0-D7E01EB39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ctr">
            <a:normAutofit/>
          </a:bodyPr>
          <a:lstStyle/>
          <a:p>
            <a:r>
              <a:rPr lang="sk-SK" sz="3600" b="1" dirty="0">
                <a:solidFill>
                  <a:srgbClr val="FF0000"/>
                </a:solidFill>
              </a:rPr>
              <a:t>LOG 1 nie je LOG1</a:t>
            </a:r>
          </a:p>
        </p:txBody>
      </p:sp>
      <p:sp>
        <p:nvSpPr>
          <p:cNvPr id="47" name="Rectangle 2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Zástupný objekt pre obsah 2">
            <a:extLst>
              <a:ext uri="{FF2B5EF4-FFF2-40B4-BE49-F238E27FC236}">
                <a16:creationId xmlns:a16="http://schemas.microsoft.com/office/drawing/2014/main" id="{10D4C8D2-1310-DE6E-0D1B-72DF6E7F7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2031101"/>
            <a:ext cx="5448300" cy="3511943"/>
          </a:xfrm>
        </p:spPr>
        <p:txBody>
          <a:bodyPr anchor="ctr">
            <a:normAutofit/>
          </a:bodyPr>
          <a:lstStyle/>
          <a:p>
            <a:pPr marL="0" algn="just">
              <a:buNone/>
            </a:pPr>
            <a:r>
              <a:rPr lang="sk-SK" sz="2400" b="0" i="1" dirty="0">
                <a:effectLst/>
                <a:latin typeface="inherit"/>
              </a:rPr>
              <a:t>Na Obr. 7 je zobrazený stav, ak sa ku 3,3V CMOC výstupu pripojí 5V TTL vstup a 5V CMOS vstup. Z hodnôt úrovní vstupných a výstupných napätí je zrejmé, že kombinácia 3,3V CMOS výstup a 5V CMOS vstup nebude fungovať, lebo hodnota napätia pre 5V CMOS vstup je v zakázanom pásme.</a:t>
            </a:r>
            <a:endParaRPr lang="sk-SK" sz="2400" b="0" i="0" dirty="0">
              <a:effectLst/>
              <a:latin typeface="Open Sans" panose="020B0606030504020204" pitchFamily="34" charset="0"/>
            </a:endParaRPr>
          </a:p>
        </p:txBody>
      </p:sp>
      <p:sp>
        <p:nvSpPr>
          <p:cNvPr id="49" name="Rectangle 2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1CC2E77C-5AA8-8E6E-A38D-F16FB22CE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738" y="1320637"/>
            <a:ext cx="5628018" cy="3475300"/>
          </a:xfrm>
          <a:prstGeom prst="rect">
            <a:avLst/>
          </a:prstGeom>
        </p:spPr>
      </p:pic>
      <p:sp>
        <p:nvSpPr>
          <p:cNvPr id="7" name="BlokTextu 6">
            <a:extLst>
              <a:ext uri="{FF2B5EF4-FFF2-40B4-BE49-F238E27FC236}">
                <a16:creationId xmlns:a16="http://schemas.microsoft.com/office/drawing/2014/main" id="{891B31C5-35A9-9B56-8D94-E6C07CD70BE2}"/>
              </a:ext>
            </a:extLst>
          </p:cNvPr>
          <p:cNvSpPr txBox="1"/>
          <p:nvPr/>
        </p:nvSpPr>
        <p:spPr>
          <a:xfrm>
            <a:off x="6306196" y="5093563"/>
            <a:ext cx="4991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b="1" dirty="0"/>
              <a:t>Obr. 7 Napäťové úrovne: 3,3V CMOS výstup, 5V TTL vstup a 5V CMOS vstup.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7324686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2. Logická 0 a logická 1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1051560" cy="50292"/>
          </a:xfrm>
          <a:prstGeom prst="rect">
            <a:avLst/>
          </a:prstGeom>
          <a:solidFill>
            <a:srgbClr val="3E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2C3D7"/>
                </a:solidFill>
                <a:latin typeface="Aptos"/>
              </a:rPr>
              <a:t>03  / 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5257800" cy="315468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627632"/>
            <a:ext cx="485546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2373BE"/>
                </a:solidFill>
                <a:latin typeface="Aptos"/>
              </a:rPr>
              <a:t>LOW  •  LOGICKÁ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121408"/>
            <a:ext cx="4855464" cy="235000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900" b="0">
                <a:solidFill>
                  <a:srgbClr val="F5F8FC"/>
                </a:solidFill>
                <a:latin typeface="Aptos"/>
              </a:rPr>
              <a:t>Nízka napäťová úroveň.
V programe Arduino:
LOW alebo 0
Zvyčajne blízko 0 V.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63040"/>
            <a:ext cx="5257800" cy="315468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64807" y="1627632"/>
            <a:ext cx="485546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3ECADC"/>
                </a:solidFill>
                <a:latin typeface="Aptos"/>
              </a:rPr>
              <a:t>HIGH  •  LOGICKÁ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7" y="2121408"/>
            <a:ext cx="4855464" cy="235000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900" b="0">
                <a:solidFill>
                  <a:srgbClr val="F5F8FC"/>
                </a:solidFill>
                <a:latin typeface="Aptos"/>
              </a:rPr>
              <a:t>Vysoká napäťová úroveň.
V programe Arduino:
HIGH alebo 1
Závisí od napájania a typu mikrokontroléra.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66360"/>
            <a:ext cx="10698480" cy="77724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FFC341"/>
                </a:solidFill>
                <a:latin typeface="Aptos"/>
              </a:rPr>
              <a:t>Pozor: HIGH nemusí vždy znamenať 5 V. Arduino Uno typicky používa 5 V logiku, ESP32 typicky 3,3 V.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3. Napäťové úrovne v praxi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1051560" cy="50292"/>
          </a:xfrm>
          <a:prstGeom prst="rect">
            <a:avLst/>
          </a:prstGeom>
          <a:solidFill>
            <a:srgbClr val="3E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2C3D7"/>
                </a:solidFill>
                <a:latin typeface="Aptos"/>
              </a:rPr>
              <a:t>04  /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4572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800" b="0">
                <a:solidFill>
                  <a:srgbClr val="B2C3D7"/>
                </a:solidFill>
                <a:latin typeface="Aptos"/>
              </a:rPr>
              <a:t>Napätie na pine sa vyhodnocuje podľa hraníc definovaných výrobcom.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97280" cy="3657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800" b="1">
                <a:solidFill>
                  <a:srgbClr val="3ECADC"/>
                </a:solidFill>
                <a:latin typeface="Aptos"/>
              </a:rPr>
              <a:t>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7400" y="2148840"/>
            <a:ext cx="3017520" cy="320040"/>
          </a:xfrm>
          <a:prstGeom prst="rect">
            <a:avLst/>
          </a:prstGeom>
          <a:solidFill>
            <a:srgbClr val="237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57400" y="2606040"/>
            <a:ext cx="3017520" cy="32004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ctr"/>
            <a:r>
              <a:rPr sz="1400" b="0">
                <a:solidFill>
                  <a:srgbClr val="B2C3D7"/>
                </a:solidFill>
                <a:latin typeface="Aptos"/>
              </a:rPr>
              <a:t>nízke napätie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1188720" cy="3657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800" b="1">
                <a:solidFill>
                  <a:srgbClr val="4BD291"/>
                </a:solidFill>
                <a:latin typeface="Aptos"/>
              </a:rPr>
              <a:t>HIGH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2148840"/>
            <a:ext cx="3017520" cy="320040"/>
          </a:xfrm>
          <a:prstGeom prst="rect">
            <a:avLst/>
          </a:prstGeom>
          <a:solidFill>
            <a:srgbClr val="4BD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43800" y="2606040"/>
            <a:ext cx="3017520" cy="32004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ctr"/>
            <a:r>
              <a:rPr sz="1400" b="0">
                <a:solidFill>
                  <a:srgbClr val="B2C3D7"/>
                </a:solidFill>
                <a:latin typeface="Aptos"/>
              </a:rPr>
              <a:t>vysoké napätie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29000"/>
            <a:ext cx="5212080" cy="160020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3593592"/>
            <a:ext cx="480974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2373BE"/>
                </a:solidFill>
                <a:latin typeface="Aptos"/>
              </a:rPr>
              <a:t>DÔLEŽITÉ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087368"/>
            <a:ext cx="4809744" cy="79552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>
                <a:solidFill>
                  <a:srgbClr val="F5F8FC"/>
                </a:solidFill>
                <a:latin typeface="Aptos"/>
              </a:rPr>
              <a:t>Rozsah, ktorý obvod považuje za LOW alebo HIGH, nie je univerzálny.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429000"/>
            <a:ext cx="5212080" cy="160020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7" y="3593592"/>
            <a:ext cx="480974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FF6969"/>
                </a:solidFill>
                <a:latin typeface="Aptos"/>
              </a:rPr>
              <a:t>BEZPEČNOSŤ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4087368"/>
            <a:ext cx="4809744" cy="79552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>
                <a:solidFill>
                  <a:srgbClr val="F5F8FC"/>
                </a:solidFill>
                <a:latin typeface="Aptos"/>
              </a:rPr>
              <a:t>Na vstup ESP32 nepripájaj 5 V, ak pin nie je na takú úroveň určený.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623560"/>
            <a:ext cx="10789920" cy="3657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1">
                <a:solidFill>
                  <a:srgbClr val="FFC341"/>
                </a:solidFill>
                <a:latin typeface="Aptos"/>
              </a:rPr>
              <a:t>Presné hodnoty hľadaj v datasheete konkrétneho mikrokontroléra.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4. Digitálny vstup a výstup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1051560" cy="50292"/>
          </a:xfrm>
          <a:prstGeom prst="rect">
            <a:avLst/>
          </a:prstGeom>
          <a:solidFill>
            <a:srgbClr val="3E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2C3D7"/>
                </a:solidFill>
                <a:latin typeface="Aptos"/>
              </a:rPr>
              <a:t>05  / 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257800" cy="338328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673351"/>
            <a:ext cx="485546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2373BE"/>
                </a:solidFill>
                <a:latin typeface="Aptos"/>
              </a:rPr>
              <a:t>INPUT  •  VSTUP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167128"/>
            <a:ext cx="4855464" cy="257860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900" b="0">
                <a:solidFill>
                  <a:srgbClr val="F5F8FC"/>
                </a:solidFill>
                <a:latin typeface="Aptos"/>
              </a:rPr>
              <a:t>Mikrokontrolér číta stav z obvodu.
Príklady:
• tlačidlo
• digitálny senzor
Funkcia: digitalRead(pin)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08760"/>
            <a:ext cx="5257800" cy="338328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64807" y="1673351"/>
            <a:ext cx="485546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3ECADC"/>
                </a:solidFill>
                <a:latin typeface="Aptos"/>
              </a:rPr>
              <a:t>OUTPUT  •  VÝSTUP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7" y="2167128"/>
            <a:ext cx="4855464" cy="257860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900" b="0">
                <a:solidFill>
                  <a:srgbClr val="F5F8FC"/>
                </a:solidFill>
                <a:latin typeface="Aptos"/>
              </a:rPr>
              <a:t>Mikrokontrolér nastavuje stav pinu.
Príklady:
• LED dióda
• riadiaci signál
Funkcia: digitalWrite(pin, HIGH/LOW)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86400"/>
            <a:ext cx="10789920" cy="4572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800" b="1">
                <a:solidFill>
                  <a:srgbClr val="FFC341"/>
                </a:solidFill>
                <a:latin typeface="Aptos"/>
              </a:rPr>
              <a:t>Pin musí byť najprv správne nastavený pomocou pinMode().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5. Riadenie LED diódy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1051560" cy="50292"/>
          </a:xfrm>
          <a:prstGeom prst="rect">
            <a:avLst/>
          </a:prstGeom>
          <a:solidFill>
            <a:srgbClr val="3E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2C3D7"/>
                </a:solidFill>
                <a:latin typeface="Aptos"/>
              </a:rPr>
              <a:t>06  /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789920" cy="4572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900" b="1">
                <a:solidFill>
                  <a:srgbClr val="3ECADC"/>
                </a:solidFill>
                <a:latin typeface="Aptos"/>
              </a:rPr>
              <a:t>Zapojenie: digitálny pin → ochranný rezistor → LED → GND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097280" cy="3657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Aptos"/>
              </a:rPr>
              <a:t>PIN 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37360" y="2423160"/>
            <a:ext cx="1005840" cy="0"/>
          </a:xfrm>
          <a:prstGeom prst="line">
            <a:avLst/>
          </a:prstGeom>
          <a:ln w="25400">
            <a:solidFill>
              <a:srgbClr val="B2C3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40480" y="2423160"/>
            <a:ext cx="914400" cy="0"/>
          </a:xfrm>
          <a:prstGeom prst="line">
            <a:avLst/>
          </a:prstGeom>
          <a:ln w="25400">
            <a:solidFill>
              <a:srgbClr val="B2C3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943600" y="2423160"/>
            <a:ext cx="640080" cy="0"/>
          </a:xfrm>
          <a:prstGeom prst="line">
            <a:avLst/>
          </a:prstGeom>
          <a:ln w="25400">
            <a:solidFill>
              <a:srgbClr val="B2C3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863840" y="2423160"/>
            <a:ext cx="1280160" cy="0"/>
          </a:xfrm>
          <a:prstGeom prst="line">
            <a:avLst/>
          </a:prstGeom>
          <a:ln w="25400">
            <a:solidFill>
              <a:srgbClr val="B2C3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743200" y="2212848"/>
            <a:ext cx="1097280" cy="420624"/>
          </a:xfrm>
          <a:prstGeom prst="rect">
            <a:avLst/>
          </a:prstGeom>
          <a:solidFill>
            <a:srgbClr val="FFC341"/>
          </a:solidFill>
          <a:ln>
            <a:solidFill>
              <a:srgbClr val="FFC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88920" y="2276856"/>
            <a:ext cx="1005840" cy="2286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ctr"/>
            <a:r>
              <a:rPr sz="1300" b="1">
                <a:solidFill>
                  <a:srgbClr val="102038"/>
                </a:solidFill>
                <a:latin typeface="Aptos"/>
              </a:rPr>
              <a:t>220 Ω</a:t>
            </a:r>
          </a:p>
        </p:txBody>
      </p:sp>
      <p:sp>
        <p:nvSpPr>
          <p:cNvPr id="13" name="Oval 12"/>
          <p:cNvSpPr/>
          <p:nvPr/>
        </p:nvSpPr>
        <p:spPr>
          <a:xfrm>
            <a:off x="4754880" y="2029968"/>
            <a:ext cx="1143000" cy="777240"/>
          </a:xfrm>
          <a:prstGeom prst="ellipse">
            <a:avLst/>
          </a:prstGeom>
          <a:solidFill>
            <a:srgbClr val="4BD291"/>
          </a:solidFill>
          <a:ln>
            <a:solidFill>
              <a:srgbClr val="4BD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92040" y="2267712"/>
            <a:ext cx="868680" cy="2286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ctr"/>
            <a:r>
              <a:rPr sz="1300" b="1">
                <a:solidFill>
                  <a:srgbClr val="102038"/>
                </a:solidFill>
                <a:latin typeface="Aptos"/>
              </a:rPr>
              <a:t>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240280"/>
            <a:ext cx="1097280" cy="3657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Aptos"/>
              </a:rPr>
              <a:t>GND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46120"/>
            <a:ext cx="5212080" cy="192024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410712"/>
            <a:ext cx="480974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4BD291"/>
                </a:solidFill>
                <a:latin typeface="Aptos"/>
              </a:rPr>
              <a:t>ZAPNUTIE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904487"/>
            <a:ext cx="4809744" cy="11155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pinMode(8, OUTPUT);
digitalWrite(8, HIGH);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246120"/>
            <a:ext cx="5212080" cy="192024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64807" y="3410712"/>
            <a:ext cx="480974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2373BE"/>
                </a:solidFill>
                <a:latin typeface="Aptos"/>
              </a:rPr>
              <a:t>VYPNUTIE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7" y="3904487"/>
            <a:ext cx="4809744" cy="11155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digitalWrite(8, LOW);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669280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1">
                <a:solidFill>
                  <a:srgbClr val="FFC341"/>
                </a:solidFill>
                <a:latin typeface="Aptos"/>
              </a:rPr>
              <a:t>Rezistor obmedzuje prúd a chráni LED aj výstup mikrokontroléra.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7787B0B-8631-2720-3063-B5F3112C7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6600" dirty="0"/>
              <a:t>A </a:t>
            </a:r>
            <a:r>
              <a:rPr lang="en-US" sz="6600"/>
              <a:t>ako</a:t>
            </a:r>
            <a:r>
              <a:rPr lang="en-US" sz="6600" dirty="0"/>
              <a:t> to </a:t>
            </a:r>
            <a:r>
              <a:rPr lang="en-US" sz="6600"/>
              <a:t>zapojím</a:t>
            </a:r>
            <a:r>
              <a:rPr lang="en-US" sz="6600" dirty="0"/>
              <a:t>?</a:t>
            </a:r>
          </a:p>
        </p:txBody>
      </p:sp>
      <p:sp>
        <p:nvSpPr>
          <p:cNvPr id="53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ázok 3" descr="Zapojenie Arduino LED schéma">
            <a:extLst>
              <a:ext uri="{FF2B5EF4-FFF2-40B4-BE49-F238E27FC236}">
                <a16:creationId xmlns:a16="http://schemas.microsoft.com/office/drawing/2014/main" id="{953F1C37-48F4-D075-EC99-E361BF14E4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" r="4057" b="2"/>
          <a:stretch>
            <a:fillRect/>
          </a:stretch>
        </p:blipFill>
        <p:spPr>
          <a:xfrm>
            <a:off x="170124" y="1691487"/>
            <a:ext cx="3959916" cy="4851553"/>
          </a:xfrm>
          <a:prstGeom prst="rect">
            <a:avLst/>
          </a:prstGeom>
        </p:spPr>
      </p:pic>
      <p:pic>
        <p:nvPicPr>
          <p:cNvPr id="5" name="Obrázok 4" descr="Breadboard zapojenie Arduino LED">
            <a:extLst>
              <a:ext uri="{FF2B5EF4-FFF2-40B4-BE49-F238E27FC236}">
                <a16:creationId xmlns:a16="http://schemas.microsoft.com/office/drawing/2014/main" id="{AE751018-A641-6C7D-4328-BA8172B47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0040" y="2291272"/>
            <a:ext cx="7738872" cy="3380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148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E20BFF1-2DC3-993A-74ED-3171432BC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6600"/>
              <a:t>Ako to naprogramujem?</a:t>
            </a:r>
          </a:p>
        </p:txBody>
      </p:sp>
      <p:sp>
        <p:nvSpPr>
          <p:cNvPr id="27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ázok 3" descr="Arduino IDE - Blink">
            <a:extLst>
              <a:ext uri="{FF2B5EF4-FFF2-40B4-BE49-F238E27FC236}">
                <a16:creationId xmlns:a16="http://schemas.microsoft.com/office/drawing/2014/main" id="{AEF651AC-86D7-837C-EB75-79FE17C3D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964" y="2642616"/>
            <a:ext cx="3470567" cy="3605784"/>
          </a:xfrm>
          <a:prstGeom prst="rect">
            <a:avLst/>
          </a:prstGeom>
        </p:spPr>
      </p:pic>
      <p:pic>
        <p:nvPicPr>
          <p:cNvPr id="6" name="Obrázok 5">
            <a:extLst>
              <a:ext uri="{FF2B5EF4-FFF2-40B4-BE49-F238E27FC236}">
                <a16:creationId xmlns:a16="http://schemas.microsoft.com/office/drawing/2014/main" id="{C89866D1-A332-F4A9-D29F-1DDC18DFE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287" y="2642616"/>
            <a:ext cx="5466833" cy="360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1797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2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B5C8362-1E7C-3BE3-E91B-A7E84F5C5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 fontScale="90000"/>
          </a:bodyPr>
          <a:lstStyle/>
          <a:p>
            <a:r>
              <a:rPr lang="sk-SK" sz="5400" dirty="0"/>
              <a:t>Dá sa LED pripojiť aj inak?</a:t>
            </a:r>
          </a:p>
        </p:txBody>
      </p:sp>
      <p:sp>
        <p:nvSpPr>
          <p:cNvPr id="4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EE692D5-8EE1-3458-E2E8-06BFF6509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" y="2660904"/>
            <a:ext cx="5902960" cy="3547872"/>
          </a:xfrm>
        </p:spPr>
        <p:txBody>
          <a:bodyPr anchor="t">
            <a:normAutofit fontScale="92500" lnSpcReduction="10000"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sk-SK" sz="2200" dirty="0"/>
              <a:t>V prvom prípade na </a:t>
            </a:r>
            <a:r>
              <a:rPr lang="sk-SK" sz="2200" dirty="0" err="1"/>
              <a:t>pin</a:t>
            </a:r>
            <a:r>
              <a:rPr lang="sk-SK" sz="2200" dirty="0"/>
              <a:t> D9 hodnotou HIGH privedieme +5V a prúd tečie cez rezistor a LED smerom dolu k zemi GND a LED svieti. Pri hodnote LOW je na </a:t>
            </a:r>
            <a:r>
              <a:rPr lang="sk-SK" sz="2200" dirty="0" err="1"/>
              <a:t>pine</a:t>
            </a:r>
            <a:r>
              <a:rPr lang="sk-SK" sz="2200" dirty="0"/>
              <a:t> D9 0V (GND), prúd nemá kade tiecť (z GND do GND to nepotečie).</a:t>
            </a:r>
          </a:p>
          <a:p>
            <a:pPr marL="457200" indent="-457200" algn="just">
              <a:buFont typeface="+mj-lt"/>
              <a:buAutoNum type="arabicPeriod"/>
            </a:pPr>
            <a:endParaRPr lang="sk-SK" sz="2200" dirty="0"/>
          </a:p>
          <a:p>
            <a:pPr marL="457200" indent="-457200" algn="just">
              <a:buFont typeface="+mj-lt"/>
              <a:buAutoNum type="arabicPeriod"/>
            </a:pPr>
            <a:r>
              <a:rPr lang="sk-SK" sz="2200" dirty="0"/>
              <a:t>V druhom prípade na </a:t>
            </a:r>
            <a:r>
              <a:rPr lang="sk-SK" sz="2200" dirty="0" err="1"/>
              <a:t>pin</a:t>
            </a:r>
            <a:r>
              <a:rPr lang="sk-SK" sz="2200" dirty="0"/>
              <a:t> D9 hodnotou HIGH privedieme +5V a </a:t>
            </a:r>
            <a:r>
              <a:rPr lang="sk-SK" sz="2200" dirty="0" err="1"/>
              <a:t>LEDka</a:t>
            </a:r>
            <a:r>
              <a:rPr lang="sk-SK" sz="2200" dirty="0"/>
              <a:t> je pripojená tiež k +5V, tak prúd tiež nepotečie (z +5V do +5V). Ale ak na ten </a:t>
            </a:r>
            <a:r>
              <a:rPr lang="sk-SK" sz="2200" dirty="0" err="1"/>
              <a:t>pin</a:t>
            </a:r>
            <a:r>
              <a:rPr lang="sk-SK" sz="2200" dirty="0"/>
              <a:t> D9 dáme hodnotu LOW (GND), tak sa LED rozsvieti. Je to aspoň trochu jasné?</a:t>
            </a:r>
          </a:p>
        </p:txBody>
      </p:sp>
      <p:pic>
        <p:nvPicPr>
          <p:cNvPr id="11" name="Obrázok 10">
            <a:extLst>
              <a:ext uri="{FF2B5EF4-FFF2-40B4-BE49-F238E27FC236}">
                <a16:creationId xmlns:a16="http://schemas.microsoft.com/office/drawing/2014/main" id="{D4A1CFD1-2718-741B-1A3C-8CFF668E7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510" y="640080"/>
            <a:ext cx="5056043" cy="5577840"/>
          </a:xfrm>
          <a:prstGeom prst="rect">
            <a:avLst/>
          </a:prstGeom>
        </p:spPr>
      </p:pic>
      <p:sp>
        <p:nvSpPr>
          <p:cNvPr id="5" name="BlokTextu 4">
            <a:extLst>
              <a:ext uri="{FF2B5EF4-FFF2-40B4-BE49-F238E27FC236}">
                <a16:creationId xmlns:a16="http://schemas.microsoft.com/office/drawing/2014/main" id="{31615C15-F87D-B3CA-41A1-1242797D4B27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sk-SK" dirty="0"/>
          </a:p>
        </p:txBody>
      </p:sp>
      <p:sp>
        <p:nvSpPr>
          <p:cNvPr id="7" name="BlokTextu 6">
            <a:extLst>
              <a:ext uri="{FF2B5EF4-FFF2-40B4-BE49-F238E27FC236}">
                <a16:creationId xmlns:a16="http://schemas.microsoft.com/office/drawing/2014/main" id="{031EC798-7C55-A427-1297-4FE53E523FC6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2639610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nline médium 3" title="Arduino Blinking LED Tutorial">
            <a:hlinkClick r:id="" action="ppaction://media"/>
            <a:extLst>
              <a:ext uri="{FF2B5EF4-FFF2-40B4-BE49-F238E27FC236}">
                <a16:creationId xmlns:a16="http://schemas.microsoft.com/office/drawing/2014/main" id="{15D770B1-234B-F7A5-7267-5A049F74A78D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836177" y="457200"/>
            <a:ext cx="10519646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342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6. Čítanie tlačidla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1051560" cy="50292"/>
          </a:xfrm>
          <a:prstGeom prst="rect">
            <a:avLst/>
          </a:prstGeom>
          <a:solidFill>
            <a:srgbClr val="3E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2C3D7"/>
                </a:solidFill>
                <a:latin typeface="Aptos"/>
              </a:rPr>
              <a:t>07  / 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192024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581912"/>
            <a:ext cx="480974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2373BE"/>
                </a:solidFill>
                <a:latin typeface="Aptos"/>
              </a:rPr>
              <a:t>ČO ROBÍ TLAČIDLO?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075688"/>
            <a:ext cx="4809744" cy="11155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Po stlačení zmení elektrické spojenie v obvode. Program číta, či je vstup LOW alebo HIGH.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12080" cy="192024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64807" y="1581912"/>
            <a:ext cx="480974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3ECADC"/>
                </a:solidFill>
                <a:latin typeface="Aptos"/>
              </a:rPr>
              <a:t>ČÍTANIE V PROGRAME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7" y="2075688"/>
            <a:ext cx="4809744" cy="11155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int stav = digitalRead(2);
Výsledok je HIGH alebo 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4754880" cy="3657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Príklad: tlačidlo na pine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97680"/>
            <a:ext cx="5212080" cy="132588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4462272"/>
            <a:ext cx="480974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2373BE"/>
                </a:solidFill>
                <a:latin typeface="Aptos"/>
              </a:rPr>
              <a:t>NAČÍTANIE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956048"/>
            <a:ext cx="4809744" cy="521207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>
                <a:solidFill>
                  <a:srgbClr val="F5F8FC"/>
                </a:solidFill>
                <a:latin typeface="Aptos"/>
              </a:rPr>
              <a:t>pinMode(2, INPUT);
int stav = digitalRead(2);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4297680"/>
            <a:ext cx="5212080" cy="132588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7" y="4462272"/>
            <a:ext cx="480974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3ECADC"/>
                </a:solidFill>
                <a:latin typeface="Aptos"/>
              </a:rPr>
              <a:t>PODMIENKA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4956048"/>
            <a:ext cx="4809744" cy="521207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if (stav == HIGH) {
  // tlačidlo je aktívne
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22F19F4-FE70-43DC-856F-2CE5F521D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0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62C734D-0D27-7FD5-AB37-F1891A386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anchor="ctr">
            <a:normAutofit/>
          </a:bodyPr>
          <a:lstStyle/>
          <a:p>
            <a:r>
              <a:rPr lang="fr-FR" sz="3600" dirty="0"/>
              <a:t>Každý port má 3 registre</a:t>
            </a:r>
            <a:endParaRPr lang="sk-SK" sz="3600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D63402E-82CD-996C-CCC8-DA02BD11F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/>
          </a:bodyPr>
          <a:lstStyle/>
          <a:p>
            <a:pPr algn="just">
              <a:lnSpc>
                <a:spcPct val="90000"/>
              </a:lnSpc>
              <a:buFont typeface="+mj-lt"/>
              <a:buAutoNum type="arabicPeriod"/>
            </a:pPr>
            <a:r>
              <a:rPr lang="sk-SK" sz="1600" dirty="0" err="1">
                <a:solidFill>
                  <a:srgbClr val="FF0000"/>
                </a:solidFill>
              </a:rPr>
              <a:t>DDRx</a:t>
            </a:r>
            <a:r>
              <a:rPr lang="sk-SK" sz="1600" dirty="0">
                <a:solidFill>
                  <a:srgbClr val="FF0000"/>
                </a:solidFill>
              </a:rPr>
              <a:t> (</a:t>
            </a:r>
            <a:r>
              <a:rPr lang="sk-SK" sz="1600" dirty="0" err="1">
                <a:solidFill>
                  <a:srgbClr val="FF0000"/>
                </a:solidFill>
              </a:rPr>
              <a:t>data</a:t>
            </a:r>
            <a:r>
              <a:rPr lang="sk-SK" sz="1600" dirty="0">
                <a:solidFill>
                  <a:srgbClr val="FF0000"/>
                </a:solidFill>
              </a:rPr>
              <a:t> </a:t>
            </a:r>
            <a:r>
              <a:rPr lang="sk-SK" sz="1600" dirty="0" err="1">
                <a:solidFill>
                  <a:srgbClr val="FF0000"/>
                </a:solidFill>
              </a:rPr>
              <a:t>direction</a:t>
            </a:r>
            <a:r>
              <a:rPr lang="sk-SK" sz="1600" dirty="0">
                <a:solidFill>
                  <a:srgbClr val="FF0000"/>
                </a:solidFill>
              </a:rPr>
              <a:t> register) </a:t>
            </a:r>
            <a:r>
              <a:rPr lang="sk-SK" sz="1600" dirty="0"/>
              <a:t>– nastavujeme ním jednotlivé </a:t>
            </a:r>
            <a:r>
              <a:rPr lang="sk-SK" sz="1600" dirty="0" err="1"/>
              <a:t>piny</a:t>
            </a:r>
            <a:r>
              <a:rPr lang="sk-SK" sz="1600" dirty="0"/>
              <a:t> portu ako vstupné alebo výstupné. Log. 1 na príslušnom bite nastavuje </a:t>
            </a:r>
            <a:r>
              <a:rPr lang="sk-SK" sz="1600" dirty="0" err="1"/>
              <a:t>pin</a:t>
            </a:r>
            <a:r>
              <a:rPr lang="sk-SK" sz="1600" dirty="0"/>
              <a:t> ako výstupný a log. 0 naopak ako vstupný.</a:t>
            </a:r>
          </a:p>
          <a:p>
            <a:pPr algn="just">
              <a:lnSpc>
                <a:spcPct val="90000"/>
              </a:lnSpc>
              <a:buFont typeface="+mj-lt"/>
              <a:buAutoNum type="arabicPeriod"/>
            </a:pPr>
            <a:endParaRPr lang="sk-SK" sz="1600" dirty="0"/>
          </a:p>
          <a:p>
            <a:pPr algn="just">
              <a:lnSpc>
                <a:spcPct val="90000"/>
              </a:lnSpc>
              <a:buFont typeface="+mj-lt"/>
              <a:buAutoNum type="arabicPeriod"/>
            </a:pPr>
            <a:r>
              <a:rPr lang="sk-SK" sz="1600" dirty="0" err="1">
                <a:solidFill>
                  <a:srgbClr val="FF0000"/>
                </a:solidFill>
              </a:rPr>
              <a:t>PORTx</a:t>
            </a:r>
            <a:r>
              <a:rPr lang="sk-SK" sz="1600" dirty="0">
                <a:solidFill>
                  <a:srgbClr val="FF0000"/>
                </a:solidFill>
              </a:rPr>
              <a:t> </a:t>
            </a:r>
            <a:r>
              <a:rPr lang="sk-SK" sz="1600" dirty="0"/>
              <a:t>– nastavuje log. úrovne na výstupných </a:t>
            </a:r>
            <a:r>
              <a:rPr lang="sk-SK" sz="1600" dirty="0" err="1"/>
              <a:t>pinoch</a:t>
            </a:r>
            <a:r>
              <a:rPr lang="sk-SK" sz="1600" dirty="0"/>
              <a:t> portu. Pre </a:t>
            </a:r>
            <a:r>
              <a:rPr lang="sk-SK" sz="1600" dirty="0" err="1"/>
              <a:t>piny</a:t>
            </a:r>
            <a:r>
              <a:rPr lang="sk-SK" sz="1600" dirty="0"/>
              <a:t>, ktoré sú nastavené ako vstupné, sa zápisom log. 1 do príslušného bitu aktivuje </a:t>
            </a:r>
            <a:r>
              <a:rPr lang="sk-SK" sz="1600" dirty="0" err="1"/>
              <a:t>pull-up</a:t>
            </a:r>
            <a:r>
              <a:rPr lang="sk-SK" sz="1600" dirty="0"/>
              <a:t> rezistor na danom </a:t>
            </a:r>
            <a:r>
              <a:rPr lang="sk-SK" sz="1600" dirty="0" err="1"/>
              <a:t>pine</a:t>
            </a:r>
            <a:r>
              <a:rPr lang="sk-SK" sz="1600" dirty="0"/>
              <a:t>.</a:t>
            </a:r>
          </a:p>
          <a:p>
            <a:pPr algn="just">
              <a:lnSpc>
                <a:spcPct val="90000"/>
              </a:lnSpc>
              <a:buFont typeface="+mj-lt"/>
              <a:buAutoNum type="arabicPeriod"/>
            </a:pPr>
            <a:endParaRPr lang="sk-SK" sz="1600" dirty="0"/>
          </a:p>
          <a:p>
            <a:pPr algn="just">
              <a:lnSpc>
                <a:spcPct val="90000"/>
              </a:lnSpc>
              <a:buFont typeface="+mj-lt"/>
              <a:buAutoNum type="arabicPeriod"/>
            </a:pPr>
            <a:r>
              <a:rPr lang="sk-SK" sz="1600" dirty="0" err="1">
                <a:solidFill>
                  <a:srgbClr val="FF0000"/>
                </a:solidFill>
              </a:rPr>
              <a:t>PINx</a:t>
            </a:r>
            <a:r>
              <a:rPr lang="sk-SK" sz="1600" dirty="0"/>
              <a:t> – určený len na čítanie. Register obsahuje stav logických úrovní na porte. Možno teda na port zvonka privádzať log. úrovne a pomocou tohto registra zisťovať logické hodnoty na jednotlivých </a:t>
            </a:r>
            <a:r>
              <a:rPr lang="sk-SK" sz="1600" dirty="0" err="1"/>
              <a:t>pinoch</a:t>
            </a:r>
            <a:r>
              <a:rPr lang="sk-SK" sz="1600" dirty="0"/>
              <a:t> portu.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5ECC94-3D5E-46A7-A7A1-DE807E156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658367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394EC77A-46BD-5514-A5B8-6173DF427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6287" y="841905"/>
            <a:ext cx="2575462" cy="2317178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7E549738-9961-462D-81B7-4A7A44691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3530966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Obrázok 8">
            <a:extLst>
              <a:ext uri="{FF2B5EF4-FFF2-40B4-BE49-F238E27FC236}">
                <a16:creationId xmlns:a16="http://schemas.microsoft.com/office/drawing/2014/main" id="{00341D10-AF91-8914-F1AD-B8DD9F07E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066" y="4106296"/>
            <a:ext cx="4305905" cy="1511904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23596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nline médium 16" title="C Bitwise Operators in 2 Minutes">
            <a:hlinkClick r:id="" action="ppaction://media"/>
            <a:extLst>
              <a:ext uri="{FF2B5EF4-FFF2-40B4-BE49-F238E27FC236}">
                <a16:creationId xmlns:a16="http://schemas.microsoft.com/office/drawing/2014/main" id="{2D617E67-5DDD-07B0-0F61-06FA3B8F367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375245" y="4486324"/>
            <a:ext cx="3376747" cy="1907866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E1924D8-43AF-7037-35DC-2D61F4B5E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156" y="3348454"/>
            <a:ext cx="5046196" cy="91652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Maskovanie</a:t>
            </a:r>
            <a:endParaRPr lang="en-US" sz="4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3" name="Obrázok 12">
            <a:extLst>
              <a:ext uri="{FF2B5EF4-FFF2-40B4-BE49-F238E27FC236}">
                <a16:creationId xmlns:a16="http://schemas.microsoft.com/office/drawing/2014/main" id="{F5570622-EEA5-F3C4-EBAC-26ED08E3B5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817" y="1034123"/>
            <a:ext cx="2927250" cy="2092983"/>
          </a:xfrm>
          <a:prstGeom prst="rect">
            <a:avLst/>
          </a:prstGeom>
        </p:spPr>
      </p:pic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7BC0F8B1-F985-469B-8332-13DBC7665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1791963" y="451044"/>
            <a:ext cx="2308583" cy="2741196"/>
          </a:xfrm>
          <a:custGeom>
            <a:avLst/>
            <a:gdLst>
              <a:gd name="connsiteX0" fmla="*/ 2308583 w 2308583"/>
              <a:gd name="connsiteY0" fmla="*/ 2741196 h 2741196"/>
              <a:gd name="connsiteX1" fmla="*/ 462 w 2308583"/>
              <a:gd name="connsiteY1" fmla="*/ 2741196 h 2741196"/>
              <a:gd name="connsiteX2" fmla="*/ 0 w 2308583"/>
              <a:gd name="connsiteY2" fmla="*/ 2469337 h 2741196"/>
              <a:gd name="connsiteX3" fmla="*/ 2022607 w 2308583"/>
              <a:gd name="connsiteY3" fmla="*/ 2470269 h 2741196"/>
              <a:gd name="connsiteX4" fmla="*/ 2022607 w 2308583"/>
              <a:gd name="connsiteY4" fmla="*/ 0 h 2741196"/>
              <a:gd name="connsiteX5" fmla="*/ 2308583 w 2308583"/>
              <a:gd name="connsiteY5" fmla="*/ 0 h 2741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8583" h="2741196">
                <a:moveTo>
                  <a:pt x="2308583" y="2741196"/>
                </a:moveTo>
                <a:lnTo>
                  <a:pt x="462" y="2741196"/>
                </a:lnTo>
                <a:cubicBezTo>
                  <a:pt x="-462" y="2647366"/>
                  <a:pt x="923" y="2563167"/>
                  <a:pt x="0" y="2469337"/>
                </a:cubicBezTo>
                <a:lnTo>
                  <a:pt x="2022607" y="2470269"/>
                </a:lnTo>
                <a:lnTo>
                  <a:pt x="2022607" y="0"/>
                </a:lnTo>
                <a:lnTo>
                  <a:pt x="2308583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pic>
        <p:nvPicPr>
          <p:cNvPr id="7" name="Obrázok 6">
            <a:extLst>
              <a:ext uri="{FF2B5EF4-FFF2-40B4-BE49-F238E27FC236}">
                <a16:creationId xmlns:a16="http://schemas.microsoft.com/office/drawing/2014/main" id="{F4E920C9-6622-CB39-D935-8963F234ED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4603" y="860862"/>
            <a:ext cx="3868173" cy="1904513"/>
          </a:xfrm>
          <a:prstGeom prst="rect">
            <a:avLst/>
          </a:prstGeom>
        </p:spPr>
      </p:pic>
      <p:pic>
        <p:nvPicPr>
          <p:cNvPr id="9" name="Obrázok 8">
            <a:extLst>
              <a:ext uri="{FF2B5EF4-FFF2-40B4-BE49-F238E27FC236}">
                <a16:creationId xmlns:a16="http://schemas.microsoft.com/office/drawing/2014/main" id="{77C8D3AA-2BA6-A562-A302-07196D0670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9971" y="1285485"/>
            <a:ext cx="2837871" cy="1081093"/>
          </a:xfrm>
          <a:prstGeom prst="rect">
            <a:avLst/>
          </a:prstGeom>
        </p:spPr>
      </p:pic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89D15953-1642-4DD6-AD9E-01AA19247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9466977" y="434000"/>
            <a:ext cx="2308583" cy="1114404"/>
          </a:xfrm>
          <a:custGeom>
            <a:avLst/>
            <a:gdLst>
              <a:gd name="connsiteX0" fmla="*/ 462 w 2308583"/>
              <a:gd name="connsiteY0" fmla="*/ 1114404 h 1114404"/>
              <a:gd name="connsiteX1" fmla="*/ 2308583 w 2308583"/>
              <a:gd name="connsiteY1" fmla="*/ 1114404 h 1114404"/>
              <a:gd name="connsiteX2" fmla="*/ 2308583 w 2308583"/>
              <a:gd name="connsiteY2" fmla="*/ 0 h 1114404"/>
              <a:gd name="connsiteX3" fmla="*/ 2022607 w 2308583"/>
              <a:gd name="connsiteY3" fmla="*/ 0 h 1114404"/>
              <a:gd name="connsiteX4" fmla="*/ 2022607 w 2308583"/>
              <a:gd name="connsiteY4" fmla="*/ 843477 h 1114404"/>
              <a:gd name="connsiteX5" fmla="*/ 0 w 2308583"/>
              <a:gd name="connsiteY5" fmla="*/ 842545 h 1114404"/>
              <a:gd name="connsiteX6" fmla="*/ 462 w 2308583"/>
              <a:gd name="connsiteY6" fmla="*/ 1114404 h 1114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8583" h="1114404">
                <a:moveTo>
                  <a:pt x="462" y="1114404"/>
                </a:moveTo>
                <a:lnTo>
                  <a:pt x="2308583" y="1114404"/>
                </a:lnTo>
                <a:lnTo>
                  <a:pt x="2308583" y="0"/>
                </a:lnTo>
                <a:lnTo>
                  <a:pt x="2022607" y="0"/>
                </a:lnTo>
                <a:lnTo>
                  <a:pt x="2022607" y="843477"/>
                </a:lnTo>
                <a:lnTo>
                  <a:pt x="0" y="842545"/>
                </a:lnTo>
                <a:cubicBezTo>
                  <a:pt x="923" y="936375"/>
                  <a:pt x="-462" y="1020574"/>
                  <a:pt x="462" y="1114404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  <a:alpha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918D9D3-1370-4FF6-9DFC-9F87F9039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14400" y="5377218"/>
            <a:ext cx="4387755" cy="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Obrázok 4">
            <a:extLst>
              <a:ext uri="{FF2B5EF4-FFF2-40B4-BE49-F238E27FC236}">
                <a16:creationId xmlns:a16="http://schemas.microsoft.com/office/drawing/2014/main" id="{60B58C86-54B8-FCC1-2468-28359E22CB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8292" y="2839719"/>
            <a:ext cx="2655888" cy="3877211"/>
          </a:xfrm>
          <a:prstGeom prst="rect">
            <a:avLst/>
          </a:prstGeom>
        </p:spPr>
      </p:pic>
      <p:pic>
        <p:nvPicPr>
          <p:cNvPr id="11" name="Obrázok 10">
            <a:extLst>
              <a:ext uri="{FF2B5EF4-FFF2-40B4-BE49-F238E27FC236}">
                <a16:creationId xmlns:a16="http://schemas.microsoft.com/office/drawing/2014/main" id="{8CF0AFB3-FBE6-2BAA-2CC2-064E67F512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20480" y="2765374"/>
            <a:ext cx="3012975" cy="3171553"/>
          </a:xfrm>
          <a:prstGeom prst="rect">
            <a:avLst/>
          </a:prstGeom>
        </p:spPr>
      </p:pic>
      <p:sp>
        <p:nvSpPr>
          <p:cNvPr id="56" name="Freeform 6">
            <a:extLst>
              <a:ext uri="{FF2B5EF4-FFF2-40B4-BE49-F238E27FC236}">
                <a16:creationId xmlns:a16="http://schemas.microsoft.com/office/drawing/2014/main" id="{FBF3780C-749F-4B50-9E1D-F2B1F6DBB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8476833" y="2919002"/>
            <a:ext cx="2525072" cy="3398994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50422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7. Plávajúci vstup a rezistory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1051560" cy="50292"/>
          </a:xfrm>
          <a:prstGeom prst="rect">
            <a:avLst/>
          </a:prstGeom>
          <a:solidFill>
            <a:srgbClr val="3E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2C3D7"/>
                </a:solidFill>
                <a:latin typeface="Aptos"/>
              </a:rPr>
              <a:t>08  / 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566160" cy="342900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536192"/>
            <a:ext cx="316382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 dirty="0">
                <a:solidFill>
                  <a:srgbClr val="FF6969"/>
                </a:solidFill>
                <a:latin typeface="Aptos"/>
              </a:rPr>
              <a:t>FLOATING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29967"/>
            <a:ext cx="3163824" cy="262432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Nepripojený vstup môže zachytávať rušenie a náhodne meniť stav.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566160" cy="342900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44568" y="1536192"/>
            <a:ext cx="316382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2373BE"/>
                </a:solidFill>
                <a:latin typeface="Aptos"/>
              </a:rPr>
              <a:t>PULL-DOWN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029967"/>
            <a:ext cx="3163824" cy="262432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Rezistor drží vstup na LOW. Stlačenie tlačidla môže pripojiť HIGH.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371600"/>
            <a:ext cx="3566160" cy="342900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02168" y="1536192"/>
            <a:ext cx="316382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3ECADC"/>
                </a:solidFill>
                <a:latin typeface="Aptos"/>
              </a:rPr>
              <a:t>PULL-UP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8" y="2029967"/>
            <a:ext cx="3163824" cy="262432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Rezistor drží vstup na HIGH. Stlačenie tlačidla ho môže pripojiť na GND.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03520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800" b="1">
                <a:solidFill>
                  <a:srgbClr val="FFC341"/>
                </a:solidFill>
                <a:latin typeface="Aptos"/>
              </a:rPr>
              <a:t>Arduino Uno: INPUT_PULLUP zapne interný pull-up rezistor.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760720"/>
            <a:ext cx="10789920" cy="4114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>
                <a:solidFill>
                  <a:srgbClr val="B2C3D7"/>
                </a:solidFill>
                <a:latin typeface="Aptos"/>
              </a:rPr>
              <a:t>Pri INPUT_PULLUP býva tlačidlo stlačené = LOW a uvoľnené = HIGH.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ok 1" descr="Resistencias PULL UP y PULL DOWN // PULL UP and PULL DOWN resistors — Hive">
            <a:extLst>
              <a:ext uri="{FF2B5EF4-FFF2-40B4-BE49-F238E27FC236}">
                <a16:creationId xmlns:a16="http://schemas.microsoft.com/office/drawing/2014/main" id="{722A4FEA-B320-7FCE-CC39-770D269402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41" r="3" b="3"/>
          <a:stretch>
            <a:fillRect/>
          </a:stretch>
        </p:blipFill>
        <p:spPr>
          <a:xfrm>
            <a:off x="5419264" y="3265080"/>
            <a:ext cx="6129269" cy="3592925"/>
          </a:xfrm>
          <a:prstGeom prst="rect">
            <a:avLst/>
          </a:prstGeom>
        </p:spPr>
      </p:pic>
      <p:pic>
        <p:nvPicPr>
          <p:cNvPr id="4" name="Obrázok 3">
            <a:extLst>
              <a:ext uri="{FF2B5EF4-FFF2-40B4-BE49-F238E27FC236}">
                <a16:creationId xmlns:a16="http://schemas.microsoft.com/office/drawing/2014/main" id="{A23877B5-C108-BB25-6BC5-13C2AB5719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66" r="9667" b="1"/>
          <a:stretch>
            <a:fillRect/>
          </a:stretch>
        </p:blipFill>
        <p:spPr>
          <a:xfrm>
            <a:off x="643467" y="-5"/>
            <a:ext cx="6082711" cy="3920044"/>
          </a:xfrm>
          <a:custGeom>
            <a:avLst/>
            <a:gdLst/>
            <a:ahLst/>
            <a:cxnLst/>
            <a:rect l="l" t="t" r="r" b="b"/>
            <a:pathLst>
              <a:path w="6082711" h="3920044">
                <a:moveTo>
                  <a:pt x="0" y="0"/>
                </a:moveTo>
                <a:lnTo>
                  <a:pt x="6082711" y="0"/>
                </a:lnTo>
                <a:lnTo>
                  <a:pt x="6082711" y="3103225"/>
                </a:lnTo>
                <a:lnTo>
                  <a:pt x="4614930" y="3103225"/>
                </a:lnTo>
                <a:lnTo>
                  <a:pt x="4614930" y="3920044"/>
                </a:lnTo>
                <a:lnTo>
                  <a:pt x="0" y="3920044"/>
                </a:lnTo>
                <a:close/>
              </a:path>
            </a:pathLst>
          </a:custGeom>
        </p:spPr>
      </p:pic>
      <p:sp>
        <p:nvSpPr>
          <p:cNvPr id="38" name="Rectangle 31">
            <a:extLst>
              <a:ext uri="{FF2B5EF4-FFF2-40B4-BE49-F238E27FC236}">
                <a16:creationId xmlns:a16="http://schemas.microsoft.com/office/drawing/2014/main" id="{E97C36FC-DEAA-4DCA-B0AB-7F9357FA4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7045" y="643467"/>
            <a:ext cx="4661488" cy="2460741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3">
            <a:extLst>
              <a:ext uri="{FF2B5EF4-FFF2-40B4-BE49-F238E27FC236}">
                <a16:creationId xmlns:a16="http://schemas.microsoft.com/office/drawing/2014/main" id="{278C38CD-A630-49FF-8417-6792A2B13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8" y="4080063"/>
            <a:ext cx="4614930" cy="2156145"/>
          </a:xfrm>
          <a:prstGeom prst="rect">
            <a:avLst/>
          </a:prstGeom>
          <a:solidFill>
            <a:schemeClr val="tx1">
              <a:lumMod val="50000"/>
              <a:lumOff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8894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8. Vzorový program pre Arduino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1051560" cy="50292"/>
          </a:xfrm>
          <a:prstGeom prst="rect">
            <a:avLst/>
          </a:prstGeom>
          <a:solidFill>
            <a:srgbClr val="3E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2C3D7"/>
                </a:solidFill>
                <a:latin typeface="Aptos"/>
              </a:rPr>
              <a:t>09  / 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6583680" cy="4937760"/>
          </a:xfrm>
          <a:prstGeom prst="roundRect">
            <a:avLst/>
          </a:prstGeom>
          <a:solidFill>
            <a:srgbClr val="081221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72768"/>
            <a:ext cx="6080760" cy="45262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>
                <a:solidFill>
                  <a:srgbClr val="F5F8FC"/>
                </a:solidFill>
                <a:latin typeface="Consolas"/>
              </a:rPr>
              <a:t>const int LED_PIN = 8;
const int BUTTON_PIN = 2;
void setup() {
  pinMode(LED_PIN, OUTPUT);
  pinMode(BUTTON_PIN, INPUT_PULLUP);
}
void loop() {
  int buttonState = digitalRead(BUTTON_PIN);
  if (buttonState == LOW) {   // stlačené
    digitalWrite(LED_PIN, HIGH);
  } else {
    digitalWrite(LED_PIN, LOW);
  }
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508760"/>
            <a:ext cx="3657600" cy="182880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27848" y="1673351"/>
            <a:ext cx="325526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4BD291"/>
                </a:solidFill>
                <a:latin typeface="Aptos"/>
              </a:rPr>
              <a:t>ČO PROGRAM ROBÍ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7848" y="2167128"/>
            <a:ext cx="3255264" cy="102412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Po stlačení tlačidla sa LED rozsvieti.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3657600"/>
            <a:ext cx="3657600" cy="182880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27848" y="3822191"/>
            <a:ext cx="325526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3ECADC"/>
                </a:solidFill>
                <a:latin typeface="Aptos"/>
              </a:rPr>
              <a:t>PREČO LOW?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7848" y="4315968"/>
            <a:ext cx="3255264" cy="102412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>
                <a:solidFill>
                  <a:srgbClr val="F5F8FC"/>
                </a:solidFill>
                <a:latin typeface="Aptos"/>
              </a:rPr>
              <a:t>INPUT_PULLUP znamená, že stlačené tlačidlo spojí vstup s GND.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Online médium 1" title="Arduino LED Control with Push Button | Wokwi Simulation">
            <a:hlinkClick r:id="" action="ppaction://media"/>
            <a:extLst>
              <a:ext uri="{FF2B5EF4-FFF2-40B4-BE49-F238E27FC236}">
                <a16:creationId xmlns:a16="http://schemas.microsoft.com/office/drawing/2014/main" id="{75199DE0-B958-4D33-565B-403DD01FF13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836177" y="457200"/>
            <a:ext cx="10519646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28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943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9. Zhrnutie a rýchly kvíz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1051560" cy="50292"/>
          </a:xfrm>
          <a:prstGeom prst="rect">
            <a:avLst/>
          </a:prstGeom>
          <a:solidFill>
            <a:srgbClr val="3E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52760" y="6446520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2C3D7"/>
                </a:solidFill>
                <a:latin typeface="Aptos"/>
              </a:rPr>
              <a:t>10  / 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12080" cy="192024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490472"/>
            <a:ext cx="480974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3ECADC"/>
                </a:solidFill>
                <a:latin typeface="Aptos"/>
              </a:rPr>
              <a:t>ZAPAMÄTAJ 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84248"/>
            <a:ext cx="4809744" cy="11155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>
                <a:solidFill>
                  <a:srgbClr val="F5F8FC"/>
                </a:solidFill>
                <a:latin typeface="Aptos"/>
              </a:rPr>
              <a:t>• LOW = logická 0
• HIGH = logická 1
• INPUT číta, OUTPUT riadi
• Vstup musí mať definovaný stav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212080" cy="1920240"/>
          </a:xfrm>
          <a:prstGeom prst="roundRect">
            <a:avLst/>
          </a:prstGeom>
          <a:solidFill>
            <a:srgbClr val="182B46"/>
          </a:solidFill>
          <a:ln>
            <a:solidFill>
              <a:srgbClr val="34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64807" y="1490472"/>
            <a:ext cx="4809744" cy="38404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1">
                <a:solidFill>
                  <a:srgbClr val="FFC341"/>
                </a:solidFill>
                <a:latin typeface="Aptos"/>
              </a:rPr>
              <a:t>BEZPEČNÁ PRAX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7" y="1984248"/>
            <a:ext cx="4809744" cy="1115568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600" b="0">
                <a:solidFill>
                  <a:srgbClr val="F5F8FC"/>
                </a:solidFill>
                <a:latin typeface="Aptos"/>
              </a:rPr>
              <a:t>• LED zapájaj s rezistorom
• Over napäťové úrovne
• Pri tlačidle použi pull-up/pull-down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2743200" cy="3657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2000" b="1">
                <a:solidFill>
                  <a:srgbClr val="F5F8FC"/>
                </a:solidFill>
                <a:latin typeface="Aptos"/>
              </a:rPr>
              <a:t>RÝCHLY KVÍZ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60520"/>
            <a:ext cx="10698480" cy="4114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1. Ktorá funkcia číta digitálny vstup?  digitalRead() / digitalWrite()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09160"/>
            <a:ext cx="10698480" cy="4114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2. Čo zvyčajne znamená LOW?  Logická 0 / Logická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57800"/>
            <a:ext cx="10698480" cy="4114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3. Prečo používame pull-up rezistor?  Stabilizuje vstup / Zvyšuje jas 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97880"/>
            <a:ext cx="10698480" cy="32004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400" b="1">
                <a:solidFill>
                  <a:srgbClr val="4BD291"/>
                </a:solidFill>
                <a:latin typeface="Aptos"/>
              </a:rPr>
              <a:t>Správne odpovede: 1) digitalRead()  2) logická 0  3) stabilizuje vstup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2481</Words>
  <Application>Microsoft Office PowerPoint</Application>
  <PresentationFormat>Širokouhlá</PresentationFormat>
  <Paragraphs>164</Paragraphs>
  <Slides>31</Slides>
  <Notes>0</Notes>
  <HiddenSlides>0</HiddenSlides>
  <MMClips>3</MMClips>
  <ScaleCrop>false</ScaleCrop>
  <HeadingPairs>
    <vt:vector size="6" baseType="variant">
      <vt:variant>
        <vt:lpstr>Použité písma</vt:lpstr>
      </vt:variant>
      <vt:variant>
        <vt:i4>7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31</vt:i4>
      </vt:variant>
    </vt:vector>
  </HeadingPairs>
  <TitlesOfParts>
    <vt:vector size="39" baseType="lpstr">
      <vt:lpstr>Aptos</vt:lpstr>
      <vt:lpstr>Aptos Display</vt:lpstr>
      <vt:lpstr>Arial</vt:lpstr>
      <vt:lpstr>Calibri</vt:lpstr>
      <vt:lpstr>Consolas</vt:lpstr>
      <vt:lpstr>inherit</vt:lpstr>
      <vt:lpstr>Open Sans</vt:lpstr>
      <vt:lpstr>Office Theme</vt:lpstr>
      <vt:lpstr>Prezentácia programu PowerPoint</vt:lpstr>
      <vt:lpstr>Wiring</vt:lpstr>
      <vt:lpstr>Prezentácia programu PowerPoint</vt:lpstr>
      <vt:lpstr>Prezentácia programu PowerPoint</vt:lpstr>
      <vt:lpstr>Prezentácia programu PowerPoint</vt:lpstr>
      <vt:lpstr>Prezentácia programu PowerPoint</vt:lpstr>
      <vt:lpstr>Matematika a logika v elektrickom dráte</vt:lpstr>
      <vt:lpstr>Digitálny signál</vt:lpstr>
      <vt:lpstr>SYNCHRONIZÁCIA</vt:lpstr>
      <vt:lpstr>Parametre digitálneho impulzu</vt:lpstr>
      <vt:lpstr>Časový diagram</vt:lpstr>
      <vt:lpstr>Charakteristika digitálnych obvodov</vt:lpstr>
      <vt:lpstr>Základné parametre digitálnych obvodov</vt:lpstr>
      <vt:lpstr>Tab. 1 Hodnoty napäťových úrovni niektorých technológií číslicových obvodov</vt:lpstr>
      <vt:lpstr>LOG 1 nie je LOG1</vt:lpstr>
      <vt:lpstr>Prezentácia programu PowerPoint</vt:lpstr>
      <vt:lpstr>Prezentácia programu PowerPoint</vt:lpstr>
      <vt:lpstr>Prezentácia programu PowerPoint</vt:lpstr>
      <vt:lpstr>Prezentácia programu PowerPoint</vt:lpstr>
      <vt:lpstr>A ako to zapojím?</vt:lpstr>
      <vt:lpstr>Ako to naprogramujem?</vt:lpstr>
      <vt:lpstr>Dá sa LED pripojiť aj inak?</vt:lpstr>
      <vt:lpstr>Prezentácia programu PowerPoint</vt:lpstr>
      <vt:lpstr>Prezentácia programu PowerPoint</vt:lpstr>
      <vt:lpstr>Každý port má 3 registre</vt:lpstr>
      <vt:lpstr>Maskovanie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Dušan CABALA</dc:creator>
  <cp:keywords/>
  <dc:description>generated using python-pptx</dc:description>
  <cp:lastModifiedBy>Cabala Dušan</cp:lastModifiedBy>
  <cp:revision>13</cp:revision>
  <dcterms:created xsi:type="dcterms:W3CDTF">2013-01-27T09:14:16Z</dcterms:created>
  <dcterms:modified xsi:type="dcterms:W3CDTF">2026-10-22T17:53:50Z</dcterms:modified>
  <cp:category/>
</cp:coreProperties>
</file>